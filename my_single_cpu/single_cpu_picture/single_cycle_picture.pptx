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26" autoAdjust="0"/>
  </p:normalViewPr>
  <p:slideViewPr>
    <p:cSldViewPr snapToGrid="0">
      <p:cViewPr>
        <p:scale>
          <a:sx n="200" d="100"/>
          <a:sy n="200" d="100"/>
        </p:scale>
        <p:origin x="-948" y="-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3"/>
            <a:ext cx="6119416" cy="2506426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6" y="3781308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60" indent="0" algn="ctr">
              <a:buNone/>
              <a:defRPr sz="1575"/>
            </a:lvl2pPr>
            <a:lvl3pPr marL="719919" indent="0" algn="ctr">
              <a:buNone/>
              <a:defRPr sz="1417"/>
            </a:lvl3pPr>
            <a:lvl4pPr marL="1079880" indent="0" algn="ctr">
              <a:buNone/>
              <a:defRPr sz="1260"/>
            </a:lvl4pPr>
            <a:lvl5pPr marL="1439839" indent="0" algn="ctr">
              <a:buNone/>
              <a:defRPr sz="1260"/>
            </a:lvl5pPr>
            <a:lvl6pPr marL="1799799" indent="0" algn="ctr">
              <a:buNone/>
              <a:defRPr sz="1260"/>
            </a:lvl6pPr>
            <a:lvl7pPr marL="2159758" indent="0" algn="ctr">
              <a:buNone/>
              <a:defRPr sz="1260"/>
            </a:lvl7pPr>
            <a:lvl8pPr marL="2519719" indent="0" algn="ctr">
              <a:buNone/>
              <a:defRPr sz="1260"/>
            </a:lvl8pPr>
            <a:lvl9pPr marL="2879678" indent="0" algn="ctr">
              <a:buNone/>
              <a:defRPr sz="12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41DFE-BC64-4CEB-ADFF-45A94111FA6E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E3B2-D301-42B9-9E76-D8EE53AC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296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41DFE-BC64-4CEB-ADFF-45A94111FA6E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E3B2-D301-42B9-9E76-D8EE53AC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087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6" y="1794832"/>
            <a:ext cx="6209407" cy="2994713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6" y="4817877"/>
            <a:ext cx="6209407" cy="1574850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6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19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3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9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71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7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41DFE-BC64-4CEB-ADFF-45A94111FA6E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E3B2-D301-42B9-9E76-D8EE53AC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69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41DFE-BC64-4CEB-ADFF-45A94111FA6E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E3B2-D301-42B9-9E76-D8EE53AC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8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3" y="383299"/>
            <a:ext cx="6209407" cy="1391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3"/>
            <a:ext cx="3045646" cy="864916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60" indent="0">
              <a:buNone/>
              <a:defRPr sz="1575" b="1"/>
            </a:lvl2pPr>
            <a:lvl3pPr marL="719919" indent="0">
              <a:buNone/>
              <a:defRPr sz="1417" b="1"/>
            </a:lvl3pPr>
            <a:lvl4pPr marL="1079880" indent="0">
              <a:buNone/>
              <a:defRPr sz="1260" b="1"/>
            </a:lvl4pPr>
            <a:lvl5pPr marL="1439839" indent="0">
              <a:buNone/>
              <a:defRPr sz="1260" b="1"/>
            </a:lvl5pPr>
            <a:lvl6pPr marL="1799799" indent="0">
              <a:buNone/>
              <a:defRPr sz="1260" b="1"/>
            </a:lvl6pPr>
            <a:lvl7pPr marL="2159758" indent="0">
              <a:buNone/>
              <a:defRPr sz="1260" b="1"/>
            </a:lvl7pPr>
            <a:lvl8pPr marL="2519719" indent="0">
              <a:buNone/>
              <a:defRPr sz="1260" b="1"/>
            </a:lvl8pPr>
            <a:lvl9pPr marL="287967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51"/>
            <a:ext cx="3045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3"/>
            <a:ext cx="3060646" cy="864916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60" indent="0">
              <a:buNone/>
              <a:defRPr sz="1575" b="1"/>
            </a:lvl2pPr>
            <a:lvl3pPr marL="719919" indent="0">
              <a:buNone/>
              <a:defRPr sz="1417" b="1"/>
            </a:lvl3pPr>
            <a:lvl4pPr marL="1079880" indent="0">
              <a:buNone/>
              <a:defRPr sz="1260" b="1"/>
            </a:lvl4pPr>
            <a:lvl5pPr marL="1439839" indent="0">
              <a:buNone/>
              <a:defRPr sz="1260" b="1"/>
            </a:lvl5pPr>
            <a:lvl6pPr marL="1799799" indent="0">
              <a:buNone/>
              <a:defRPr sz="1260" b="1"/>
            </a:lvl6pPr>
            <a:lvl7pPr marL="2159758" indent="0">
              <a:buNone/>
              <a:defRPr sz="1260" b="1"/>
            </a:lvl7pPr>
            <a:lvl8pPr marL="2519719" indent="0">
              <a:buNone/>
              <a:defRPr sz="1260" b="1"/>
            </a:lvl8pPr>
            <a:lvl9pPr marL="2879678" indent="0">
              <a:buNone/>
              <a:defRPr sz="126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51"/>
            <a:ext cx="3060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41DFE-BC64-4CEB-ADFF-45A94111FA6E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E3B2-D301-42B9-9E76-D8EE53AC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316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41DFE-BC64-4CEB-ADFF-45A94111FA6E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E3B2-D301-42B9-9E76-D8EE53AC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903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41DFE-BC64-4CEB-ADFF-45A94111FA6E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E3B2-D301-42B9-9E76-D8EE53AC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094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5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5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60" indent="0">
              <a:buNone/>
              <a:defRPr sz="1102"/>
            </a:lvl2pPr>
            <a:lvl3pPr marL="719919" indent="0">
              <a:buNone/>
              <a:defRPr sz="944"/>
            </a:lvl3pPr>
            <a:lvl4pPr marL="1079880" indent="0">
              <a:buNone/>
              <a:defRPr sz="787"/>
            </a:lvl4pPr>
            <a:lvl5pPr marL="1439839" indent="0">
              <a:buNone/>
              <a:defRPr sz="787"/>
            </a:lvl5pPr>
            <a:lvl6pPr marL="1799799" indent="0">
              <a:buNone/>
              <a:defRPr sz="787"/>
            </a:lvl6pPr>
            <a:lvl7pPr marL="2159758" indent="0">
              <a:buNone/>
              <a:defRPr sz="787"/>
            </a:lvl7pPr>
            <a:lvl8pPr marL="2519719" indent="0">
              <a:buNone/>
              <a:defRPr sz="787"/>
            </a:lvl8pPr>
            <a:lvl9pPr marL="287967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41DFE-BC64-4CEB-ADFF-45A94111FA6E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E3B2-D301-42B9-9E76-D8EE53AC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282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5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60" indent="0">
              <a:buNone/>
              <a:defRPr sz="2205"/>
            </a:lvl2pPr>
            <a:lvl3pPr marL="719919" indent="0">
              <a:buNone/>
              <a:defRPr sz="1890"/>
            </a:lvl3pPr>
            <a:lvl4pPr marL="1079880" indent="0">
              <a:buNone/>
              <a:defRPr sz="1575"/>
            </a:lvl4pPr>
            <a:lvl5pPr marL="1439839" indent="0">
              <a:buNone/>
              <a:defRPr sz="1575"/>
            </a:lvl5pPr>
            <a:lvl6pPr marL="1799799" indent="0">
              <a:buNone/>
              <a:defRPr sz="1575"/>
            </a:lvl6pPr>
            <a:lvl7pPr marL="2159758" indent="0">
              <a:buNone/>
              <a:defRPr sz="1575"/>
            </a:lvl7pPr>
            <a:lvl8pPr marL="2519719" indent="0">
              <a:buNone/>
              <a:defRPr sz="1575"/>
            </a:lvl8pPr>
            <a:lvl9pPr marL="2879678" indent="0">
              <a:buNone/>
              <a:defRPr sz="15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5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60" indent="0">
              <a:buNone/>
              <a:defRPr sz="1102"/>
            </a:lvl2pPr>
            <a:lvl3pPr marL="719919" indent="0">
              <a:buNone/>
              <a:defRPr sz="944"/>
            </a:lvl3pPr>
            <a:lvl4pPr marL="1079880" indent="0">
              <a:buNone/>
              <a:defRPr sz="787"/>
            </a:lvl4pPr>
            <a:lvl5pPr marL="1439839" indent="0">
              <a:buNone/>
              <a:defRPr sz="787"/>
            </a:lvl5pPr>
            <a:lvl6pPr marL="1799799" indent="0">
              <a:buNone/>
              <a:defRPr sz="787"/>
            </a:lvl6pPr>
            <a:lvl7pPr marL="2159758" indent="0">
              <a:buNone/>
              <a:defRPr sz="787"/>
            </a:lvl7pPr>
            <a:lvl8pPr marL="2519719" indent="0">
              <a:buNone/>
              <a:defRPr sz="787"/>
            </a:lvl8pPr>
            <a:lvl9pPr marL="2879678" indent="0">
              <a:buNone/>
              <a:defRPr sz="78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41DFE-BC64-4CEB-ADFF-45A94111FA6E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E3B2-D301-42B9-9E76-D8EE53AC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674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41DFE-BC64-4CEB-ADFF-45A94111FA6E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E3B2-D301-42B9-9E76-D8EE53AC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792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8"/>
            <a:ext cx="1552352" cy="610108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8"/>
            <a:ext cx="4567064" cy="610108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41DFE-BC64-4CEB-ADFF-45A94111FA6E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BE3B2-D301-42B9-9E76-D8EE53AC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86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5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5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5" y="6672698"/>
            <a:ext cx="1619845" cy="383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41DFE-BC64-4CEB-ADFF-45A94111FA6E}" type="datetimeFigureOut">
              <a:rPr lang="zh-CN" altLang="en-US" smtClean="0"/>
              <a:t>2025/8/2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7" y="6672698"/>
            <a:ext cx="1619845" cy="3832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BE3B2-D301-42B9-9E76-D8EE53AC8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95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9919" rtl="0" eaLnBrk="1" latinLnBrk="0" hangingPunct="1">
        <a:lnSpc>
          <a:spcPct val="90000"/>
        </a:lnSpc>
        <a:spcBef>
          <a:spcPct val="0"/>
        </a:spcBef>
        <a:buNone/>
        <a:defRPr sz="34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80" indent="-179980" algn="l" defTabSz="719919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39939" indent="-179980" algn="l" defTabSz="719919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900" indent="-179980" algn="l" defTabSz="719919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59" indent="-179980" algn="l" defTabSz="719919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819" indent="-179980" algn="l" defTabSz="719919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80" indent="-179980" algn="l" defTabSz="719919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739" indent="-179980" algn="l" defTabSz="719919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98" indent="-179980" algn="l" defTabSz="719919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58" indent="-179980" algn="l" defTabSz="719919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19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60" algn="l" defTabSz="719919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19" algn="l" defTabSz="719919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80" algn="l" defTabSz="719919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39" algn="l" defTabSz="719919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99" algn="l" defTabSz="719919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58" algn="l" defTabSz="719919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719" algn="l" defTabSz="719919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78" algn="l" defTabSz="719919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7F643BB-3DDA-645D-7438-DCABD65BD250}"/>
              </a:ext>
            </a:extLst>
          </p:cNvPr>
          <p:cNvSpPr/>
          <p:nvPr/>
        </p:nvSpPr>
        <p:spPr>
          <a:xfrm>
            <a:off x="655135" y="1888070"/>
            <a:ext cx="501113" cy="580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63" dirty="0"/>
          </a:p>
        </p:txBody>
      </p:sp>
      <p:sp>
        <p:nvSpPr>
          <p:cNvPr id="31" name="流程图: 手动操作 30">
            <a:extLst>
              <a:ext uri="{FF2B5EF4-FFF2-40B4-BE49-F238E27FC236}">
                <a16:creationId xmlns:a16="http://schemas.microsoft.com/office/drawing/2014/main" id="{D8FCD689-971E-C6D3-263A-89C9CC613F0D}"/>
              </a:ext>
            </a:extLst>
          </p:cNvPr>
          <p:cNvSpPr/>
          <p:nvPr/>
        </p:nvSpPr>
        <p:spPr>
          <a:xfrm rot="16200000">
            <a:off x="5685469" y="1697594"/>
            <a:ext cx="687563" cy="309982"/>
          </a:xfrm>
          <a:prstGeom prst="flowChartManualOpe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7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75F49F2-575B-670C-2F53-4B934F33CDF9}"/>
              </a:ext>
            </a:extLst>
          </p:cNvPr>
          <p:cNvSpPr txBox="1"/>
          <p:nvPr/>
        </p:nvSpPr>
        <p:spPr>
          <a:xfrm>
            <a:off x="5837959" y="1673161"/>
            <a:ext cx="462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MUX</a:t>
            </a:r>
          </a:p>
          <a:p>
            <a:r>
              <a:rPr lang="en-US" altLang="zh-CN" sz="700" dirty="0"/>
              <a:t> 2_1</a:t>
            </a:r>
            <a:endParaRPr lang="zh-CN" altLang="en-US" sz="7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9CA916C-023F-1D15-02EA-4C3086CEA6F5}"/>
              </a:ext>
            </a:extLst>
          </p:cNvPr>
          <p:cNvSpPr txBox="1"/>
          <p:nvPr/>
        </p:nvSpPr>
        <p:spPr>
          <a:xfrm>
            <a:off x="5874258" y="1947059"/>
            <a:ext cx="3533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 err="1"/>
              <a:t>sel</a:t>
            </a:r>
            <a:endParaRPr lang="en-US" altLang="zh-CN" sz="7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52DE02A-5961-FC57-FD3F-462149F99DAF}"/>
              </a:ext>
            </a:extLst>
          </p:cNvPr>
          <p:cNvCxnSpPr>
            <a:endCxn id="31" idx="1"/>
          </p:cNvCxnSpPr>
          <p:nvPr/>
        </p:nvCxnSpPr>
        <p:spPr>
          <a:xfrm flipH="1" flipV="1">
            <a:off x="6029251" y="2127612"/>
            <a:ext cx="1745" cy="301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ADA6675A-6DB8-7142-9298-CA7A167A7C72}"/>
              </a:ext>
            </a:extLst>
          </p:cNvPr>
          <p:cNvCxnSpPr/>
          <p:nvPr/>
        </p:nvCxnSpPr>
        <p:spPr>
          <a:xfrm>
            <a:off x="5428765" y="1972733"/>
            <a:ext cx="4454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14FEFCF3-8362-19A3-D0C2-3E3F1FD26A9E}"/>
              </a:ext>
            </a:extLst>
          </p:cNvPr>
          <p:cNvCxnSpPr/>
          <p:nvPr/>
        </p:nvCxnSpPr>
        <p:spPr>
          <a:xfrm>
            <a:off x="5424611" y="1724449"/>
            <a:ext cx="4496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4AEECC7C-7C98-71A4-8C7F-228CA50A2808}"/>
              </a:ext>
            </a:extLst>
          </p:cNvPr>
          <p:cNvSpPr txBox="1"/>
          <p:nvPr/>
        </p:nvSpPr>
        <p:spPr>
          <a:xfrm>
            <a:off x="5360339" y="1601511"/>
            <a:ext cx="56485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RF_rD2 32bits</a:t>
            </a:r>
            <a:endParaRPr lang="zh-CN" altLang="en-US" sz="4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DD669D4-B208-91DE-CD7F-95B6CE54B066}"/>
              </a:ext>
            </a:extLst>
          </p:cNvPr>
          <p:cNvSpPr txBox="1"/>
          <p:nvPr/>
        </p:nvSpPr>
        <p:spPr>
          <a:xfrm>
            <a:off x="5357052" y="1848599"/>
            <a:ext cx="56485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SEXT_ext</a:t>
            </a:r>
            <a:r>
              <a:rPr lang="en-US" altLang="zh-CN" sz="400" dirty="0"/>
              <a:t> 32bits</a:t>
            </a:r>
            <a:endParaRPr lang="zh-CN" altLang="en-US" sz="400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29381725-2287-404C-7E8E-A7296E5BE509}"/>
              </a:ext>
            </a:extLst>
          </p:cNvPr>
          <p:cNvCxnSpPr/>
          <p:nvPr/>
        </p:nvCxnSpPr>
        <p:spPr>
          <a:xfrm>
            <a:off x="6504731" y="1201156"/>
            <a:ext cx="0" cy="275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02681C3-D071-396E-D25D-3A339184D1DE}"/>
              </a:ext>
            </a:extLst>
          </p:cNvPr>
          <p:cNvCxnSpPr/>
          <p:nvPr/>
        </p:nvCxnSpPr>
        <p:spPr>
          <a:xfrm>
            <a:off x="6504731" y="1594211"/>
            <a:ext cx="0" cy="2789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995418B-428A-33CB-AE65-0511FD09D379}"/>
              </a:ext>
            </a:extLst>
          </p:cNvPr>
          <p:cNvCxnSpPr/>
          <p:nvPr/>
        </p:nvCxnSpPr>
        <p:spPr>
          <a:xfrm>
            <a:off x="6821162" y="1314872"/>
            <a:ext cx="0" cy="4494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C1504D1-F87C-FB9D-F5A6-7DFBC5E93CED}"/>
              </a:ext>
            </a:extLst>
          </p:cNvPr>
          <p:cNvCxnSpPr/>
          <p:nvPr/>
        </p:nvCxnSpPr>
        <p:spPr>
          <a:xfrm>
            <a:off x="6504732" y="1201157"/>
            <a:ext cx="316431" cy="113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C90B77CA-640E-CA97-D197-8F82A306958D}"/>
              </a:ext>
            </a:extLst>
          </p:cNvPr>
          <p:cNvCxnSpPr>
            <a:cxnSpLocks/>
          </p:cNvCxnSpPr>
          <p:nvPr/>
        </p:nvCxnSpPr>
        <p:spPr>
          <a:xfrm flipV="1">
            <a:off x="6504732" y="1764280"/>
            <a:ext cx="316431" cy="1088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77B6DA7-E8D9-6ED4-2C18-2FB9EC458423}"/>
              </a:ext>
            </a:extLst>
          </p:cNvPr>
          <p:cNvCxnSpPr/>
          <p:nvPr/>
        </p:nvCxnSpPr>
        <p:spPr>
          <a:xfrm>
            <a:off x="6504731" y="1476990"/>
            <a:ext cx="89556" cy="47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6FD35703-9EFD-7FE3-CC57-B4A49EA5F9AC}"/>
              </a:ext>
            </a:extLst>
          </p:cNvPr>
          <p:cNvCxnSpPr>
            <a:cxnSpLocks/>
          </p:cNvCxnSpPr>
          <p:nvPr/>
        </p:nvCxnSpPr>
        <p:spPr>
          <a:xfrm flipV="1">
            <a:off x="6504731" y="1524652"/>
            <a:ext cx="89556" cy="695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0728FC3D-B45D-57E1-A68D-321083A7A1B0}"/>
              </a:ext>
            </a:extLst>
          </p:cNvPr>
          <p:cNvSpPr txBox="1"/>
          <p:nvPr/>
        </p:nvSpPr>
        <p:spPr>
          <a:xfrm>
            <a:off x="6517498" y="1206660"/>
            <a:ext cx="4571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A</a:t>
            </a:r>
          </a:p>
          <a:p>
            <a:endParaRPr lang="en-US" altLang="zh-CN" sz="700" dirty="0"/>
          </a:p>
          <a:p>
            <a:endParaRPr lang="en-US" altLang="zh-CN" sz="700" dirty="0"/>
          </a:p>
          <a:p>
            <a:endParaRPr lang="en-US" altLang="zh-CN" sz="700" dirty="0"/>
          </a:p>
          <a:p>
            <a:r>
              <a:rPr lang="en-US" altLang="zh-CN" sz="700" dirty="0"/>
              <a:t>B</a:t>
            </a:r>
            <a:endParaRPr lang="zh-CN" altLang="en-US" sz="7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4467267-0EDC-4AF4-2BA8-F53ABF83D6F7}"/>
              </a:ext>
            </a:extLst>
          </p:cNvPr>
          <p:cNvSpPr txBox="1"/>
          <p:nvPr/>
        </p:nvSpPr>
        <p:spPr>
          <a:xfrm>
            <a:off x="6704457" y="1364201"/>
            <a:ext cx="1085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f</a:t>
            </a:r>
          </a:p>
          <a:p>
            <a:endParaRPr lang="en-US" altLang="zh-CN" sz="700" dirty="0"/>
          </a:p>
          <a:p>
            <a:r>
              <a:rPr lang="en-US" altLang="zh-CN" sz="700" dirty="0"/>
              <a:t>C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2D4A76C-7B0E-2CE8-6ACE-1B4CC19EE830}"/>
              </a:ext>
            </a:extLst>
          </p:cNvPr>
          <p:cNvCxnSpPr/>
          <p:nvPr/>
        </p:nvCxnSpPr>
        <p:spPr>
          <a:xfrm>
            <a:off x="6184242" y="1722300"/>
            <a:ext cx="314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044A2EE-E614-D830-6C2F-0FA5972AEA90}"/>
              </a:ext>
            </a:extLst>
          </p:cNvPr>
          <p:cNvCxnSpPr/>
          <p:nvPr/>
        </p:nvCxnSpPr>
        <p:spPr>
          <a:xfrm>
            <a:off x="5439808" y="1320621"/>
            <a:ext cx="1061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C10791C-8ADF-8668-68DC-26BBE869F5D6}"/>
              </a:ext>
            </a:extLst>
          </p:cNvPr>
          <p:cNvSpPr txBox="1"/>
          <p:nvPr/>
        </p:nvSpPr>
        <p:spPr>
          <a:xfrm>
            <a:off x="5436823" y="1206319"/>
            <a:ext cx="56485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RF_Rd1 32bits</a:t>
            </a:r>
            <a:endParaRPr lang="zh-CN" altLang="en-US" sz="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0D2D6D2-2EDF-9CBF-1DA4-AEB92D07D006}"/>
              </a:ext>
            </a:extLst>
          </p:cNvPr>
          <p:cNvSpPr txBox="1"/>
          <p:nvPr/>
        </p:nvSpPr>
        <p:spPr>
          <a:xfrm>
            <a:off x="6498762" y="1100549"/>
            <a:ext cx="4530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ALU</a:t>
            </a:r>
            <a:endParaRPr lang="zh-CN" altLang="en-US" sz="7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66DDA59-6CBA-90E8-D511-DD98257E04FA}"/>
              </a:ext>
            </a:extLst>
          </p:cNvPr>
          <p:cNvSpPr txBox="1"/>
          <p:nvPr/>
        </p:nvSpPr>
        <p:spPr>
          <a:xfrm>
            <a:off x="6749631" y="1342600"/>
            <a:ext cx="453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NPC_br</a:t>
            </a:r>
            <a:r>
              <a:rPr lang="en-US" altLang="zh-CN" sz="400" dirty="0"/>
              <a:t> 2bits</a:t>
            </a:r>
          </a:p>
          <a:p>
            <a:endParaRPr lang="zh-CN" altLang="en-US" sz="4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365D80B-BAB6-A2B4-B596-71C841BB6499}"/>
              </a:ext>
            </a:extLst>
          </p:cNvPr>
          <p:cNvSpPr txBox="1"/>
          <p:nvPr/>
        </p:nvSpPr>
        <p:spPr>
          <a:xfrm>
            <a:off x="6814200" y="1546787"/>
            <a:ext cx="221061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32bits</a:t>
            </a:r>
            <a:endParaRPr lang="zh-CN" altLang="en-US" sz="400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E3C65C4-8112-E39A-79A4-94D49D88015A}"/>
              </a:ext>
            </a:extLst>
          </p:cNvPr>
          <p:cNvSpPr/>
          <p:nvPr/>
        </p:nvSpPr>
        <p:spPr>
          <a:xfrm>
            <a:off x="3302144" y="2142455"/>
            <a:ext cx="762374" cy="2867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SEXT</a:t>
            </a:r>
            <a:endParaRPr lang="zh-CN" altLang="en-US" sz="7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A5D2B30-D526-AB50-6165-308CAA525278}"/>
              </a:ext>
            </a:extLst>
          </p:cNvPr>
          <p:cNvSpPr txBox="1"/>
          <p:nvPr/>
        </p:nvSpPr>
        <p:spPr>
          <a:xfrm>
            <a:off x="3245341" y="2225692"/>
            <a:ext cx="3443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din</a:t>
            </a:r>
            <a:endParaRPr lang="zh-CN" altLang="en-US" sz="4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C25F872-2DAC-37B3-D541-474AF29403ED}"/>
              </a:ext>
            </a:extLst>
          </p:cNvPr>
          <p:cNvSpPr txBox="1"/>
          <p:nvPr/>
        </p:nvSpPr>
        <p:spPr>
          <a:xfrm>
            <a:off x="3867402" y="2214659"/>
            <a:ext cx="3042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ext</a:t>
            </a:r>
            <a:endParaRPr lang="zh-CN" altLang="en-US" sz="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B9B67A6-4AEF-63FB-60DC-5CA141D741FF}"/>
              </a:ext>
            </a:extLst>
          </p:cNvPr>
          <p:cNvSpPr txBox="1"/>
          <p:nvPr/>
        </p:nvSpPr>
        <p:spPr>
          <a:xfrm>
            <a:off x="3569716" y="2301719"/>
            <a:ext cx="3042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op</a:t>
            </a:r>
            <a:endParaRPr lang="zh-CN" altLang="en-US" sz="400" dirty="0"/>
          </a:p>
        </p:txBody>
      </p:sp>
      <p:sp>
        <p:nvSpPr>
          <p:cNvPr id="62" name="流程图: 手动操作 61">
            <a:extLst>
              <a:ext uri="{FF2B5EF4-FFF2-40B4-BE49-F238E27FC236}">
                <a16:creationId xmlns:a16="http://schemas.microsoft.com/office/drawing/2014/main" id="{8C7EE84D-F211-4E35-510C-C8CF522EA1A3}"/>
              </a:ext>
            </a:extLst>
          </p:cNvPr>
          <p:cNvSpPr/>
          <p:nvPr/>
        </p:nvSpPr>
        <p:spPr>
          <a:xfrm rot="16200000">
            <a:off x="3360391" y="1484689"/>
            <a:ext cx="645879" cy="368141"/>
          </a:xfrm>
          <a:prstGeom prst="flowChartManualOpe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700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337A6C1-A2CA-B50A-6482-268DD8198EEE}"/>
              </a:ext>
            </a:extLst>
          </p:cNvPr>
          <p:cNvSpPr/>
          <p:nvPr/>
        </p:nvSpPr>
        <p:spPr>
          <a:xfrm>
            <a:off x="4565796" y="1348448"/>
            <a:ext cx="653464" cy="6710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RF</a:t>
            </a:r>
            <a:endParaRPr lang="zh-CN" altLang="en-US" sz="700" dirty="0"/>
          </a:p>
        </p:txBody>
      </p:sp>
      <p:sp>
        <p:nvSpPr>
          <p:cNvPr id="64" name="等腰三角形 63">
            <a:extLst>
              <a:ext uri="{FF2B5EF4-FFF2-40B4-BE49-F238E27FC236}">
                <a16:creationId xmlns:a16="http://schemas.microsoft.com/office/drawing/2014/main" id="{AB3AC4C5-5243-84D7-7624-6BD70DB6C718}"/>
              </a:ext>
            </a:extLst>
          </p:cNvPr>
          <p:cNvSpPr/>
          <p:nvPr/>
        </p:nvSpPr>
        <p:spPr>
          <a:xfrm>
            <a:off x="4821656" y="1917106"/>
            <a:ext cx="149752" cy="10050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70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F05108FC-7971-DDFD-3594-F9B87F33E2E0}"/>
              </a:ext>
            </a:extLst>
          </p:cNvPr>
          <p:cNvSpPr txBox="1"/>
          <p:nvPr/>
        </p:nvSpPr>
        <p:spPr>
          <a:xfrm>
            <a:off x="4783420" y="1790453"/>
            <a:ext cx="29804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clk</a:t>
            </a:r>
            <a:endParaRPr lang="zh-CN" altLang="en-US" sz="4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E499A937-5FCB-345D-646A-20F956ECD47C}"/>
              </a:ext>
            </a:extLst>
          </p:cNvPr>
          <p:cNvSpPr txBox="1"/>
          <p:nvPr/>
        </p:nvSpPr>
        <p:spPr>
          <a:xfrm>
            <a:off x="4561607" y="1866304"/>
            <a:ext cx="30041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we</a:t>
            </a:r>
            <a:endParaRPr lang="zh-CN" altLang="en-US" sz="4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1431E2C-BD4C-5979-A3A3-99E57ACC9E9A}"/>
              </a:ext>
            </a:extLst>
          </p:cNvPr>
          <p:cNvSpPr txBox="1"/>
          <p:nvPr/>
        </p:nvSpPr>
        <p:spPr>
          <a:xfrm>
            <a:off x="4557764" y="1723165"/>
            <a:ext cx="28511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wR</a:t>
            </a:r>
            <a:endParaRPr lang="zh-CN" altLang="en-US" sz="4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52D7C096-7228-2C16-F5A2-6B092A87D7B8}"/>
              </a:ext>
            </a:extLst>
          </p:cNvPr>
          <p:cNvSpPr txBox="1"/>
          <p:nvPr/>
        </p:nvSpPr>
        <p:spPr>
          <a:xfrm>
            <a:off x="4550945" y="1558561"/>
            <a:ext cx="30041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rR2</a:t>
            </a:r>
            <a:endParaRPr lang="zh-CN" altLang="en-US" sz="4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643BB6F-92FA-CA87-661E-3D15583E9F6E}"/>
              </a:ext>
            </a:extLst>
          </p:cNvPr>
          <p:cNvSpPr txBox="1"/>
          <p:nvPr/>
        </p:nvSpPr>
        <p:spPr>
          <a:xfrm>
            <a:off x="4555496" y="1387115"/>
            <a:ext cx="30041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rR1</a:t>
            </a:r>
            <a:endParaRPr lang="zh-CN" altLang="en-US" sz="4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D4B2292-B4F5-A876-CD31-89422EEE9377}"/>
              </a:ext>
            </a:extLst>
          </p:cNvPr>
          <p:cNvSpPr txBox="1"/>
          <p:nvPr/>
        </p:nvSpPr>
        <p:spPr>
          <a:xfrm>
            <a:off x="4772053" y="1348270"/>
            <a:ext cx="32537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wd</a:t>
            </a:r>
            <a:endParaRPr lang="zh-CN" altLang="en-US" sz="4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143CEEA-849B-FCA2-1EC8-C97BECBFF51E}"/>
              </a:ext>
            </a:extLst>
          </p:cNvPr>
          <p:cNvSpPr txBox="1"/>
          <p:nvPr/>
        </p:nvSpPr>
        <p:spPr>
          <a:xfrm>
            <a:off x="5032071" y="1500323"/>
            <a:ext cx="2851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rD1</a:t>
            </a:r>
            <a:endParaRPr lang="zh-CN" altLang="en-US" sz="4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2ECF325-8FD7-6AE6-ACF4-4D27044242D6}"/>
              </a:ext>
            </a:extLst>
          </p:cNvPr>
          <p:cNvSpPr txBox="1"/>
          <p:nvPr/>
        </p:nvSpPr>
        <p:spPr>
          <a:xfrm>
            <a:off x="5035472" y="1678777"/>
            <a:ext cx="27058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rD2</a:t>
            </a:r>
            <a:endParaRPr lang="zh-CN" altLang="en-US" sz="4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0F025D1-3C16-198E-9345-6150208427A6}"/>
              </a:ext>
            </a:extLst>
          </p:cNvPr>
          <p:cNvSpPr txBox="1"/>
          <p:nvPr/>
        </p:nvSpPr>
        <p:spPr>
          <a:xfrm>
            <a:off x="3505103" y="1522410"/>
            <a:ext cx="452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MUX</a:t>
            </a:r>
          </a:p>
          <a:p>
            <a:r>
              <a:rPr lang="en-US" altLang="zh-CN" sz="700" dirty="0"/>
              <a:t> 4_1</a:t>
            </a:r>
            <a:endParaRPr lang="zh-CN" altLang="en-US" sz="7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AB05717-C6BC-5003-9AFB-D514109C7C5A}"/>
              </a:ext>
            </a:extLst>
          </p:cNvPr>
          <p:cNvSpPr txBox="1"/>
          <p:nvPr/>
        </p:nvSpPr>
        <p:spPr>
          <a:xfrm>
            <a:off x="3484936" y="1401588"/>
            <a:ext cx="122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0</a:t>
            </a:r>
          </a:p>
          <a:p>
            <a:endParaRPr lang="en-US" altLang="zh-CN" sz="400" dirty="0"/>
          </a:p>
          <a:p>
            <a:r>
              <a:rPr lang="en-US" altLang="zh-CN" sz="400" dirty="0"/>
              <a:t>1</a:t>
            </a:r>
          </a:p>
          <a:p>
            <a:endParaRPr lang="en-US" altLang="zh-CN" sz="400" dirty="0"/>
          </a:p>
          <a:p>
            <a:r>
              <a:rPr lang="en-US" altLang="zh-CN" sz="400" dirty="0"/>
              <a:t>2</a:t>
            </a:r>
          </a:p>
          <a:p>
            <a:endParaRPr lang="en-US" altLang="zh-CN" sz="400" dirty="0"/>
          </a:p>
          <a:p>
            <a:r>
              <a:rPr lang="en-US" altLang="zh-CN" sz="400" dirty="0"/>
              <a:t>3</a:t>
            </a:r>
            <a:endParaRPr lang="zh-CN" altLang="en-US" sz="400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3AC16B3A-5D10-2D67-D9CB-8371D9186E07}"/>
              </a:ext>
            </a:extLst>
          </p:cNvPr>
          <p:cNvCxnSpPr>
            <a:cxnSpLocks/>
          </p:cNvCxnSpPr>
          <p:nvPr/>
        </p:nvCxnSpPr>
        <p:spPr>
          <a:xfrm>
            <a:off x="3286684" y="1493550"/>
            <a:ext cx="206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9132EE40-9F2D-C50A-D2A5-52CD43AF3559}"/>
              </a:ext>
            </a:extLst>
          </p:cNvPr>
          <p:cNvCxnSpPr/>
          <p:nvPr/>
        </p:nvCxnSpPr>
        <p:spPr>
          <a:xfrm flipV="1">
            <a:off x="3286684" y="1290969"/>
            <a:ext cx="0" cy="2043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51101BD9-0C5E-BBCB-A70A-9CDF1C896299}"/>
              </a:ext>
            </a:extLst>
          </p:cNvPr>
          <p:cNvCxnSpPr/>
          <p:nvPr/>
        </p:nvCxnSpPr>
        <p:spPr>
          <a:xfrm>
            <a:off x="3237003" y="1600815"/>
            <a:ext cx="255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64DC4FD6-B342-234A-A89F-07F0BCAF1A53}"/>
              </a:ext>
            </a:extLst>
          </p:cNvPr>
          <p:cNvCxnSpPr/>
          <p:nvPr/>
        </p:nvCxnSpPr>
        <p:spPr>
          <a:xfrm>
            <a:off x="3180326" y="1720922"/>
            <a:ext cx="3124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1ACE54AA-7DB2-03A7-209E-979F9DD5AB42}"/>
              </a:ext>
            </a:extLst>
          </p:cNvPr>
          <p:cNvCxnSpPr>
            <a:cxnSpLocks/>
          </p:cNvCxnSpPr>
          <p:nvPr/>
        </p:nvCxnSpPr>
        <p:spPr>
          <a:xfrm>
            <a:off x="3344998" y="1834501"/>
            <a:ext cx="148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DEBF7083-4592-CB77-1548-3871872EBF56}"/>
              </a:ext>
            </a:extLst>
          </p:cNvPr>
          <p:cNvSpPr txBox="1"/>
          <p:nvPr/>
        </p:nvSpPr>
        <p:spPr>
          <a:xfrm>
            <a:off x="3213436" y="1363199"/>
            <a:ext cx="51392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ALU.C</a:t>
            </a:r>
            <a:endParaRPr lang="zh-CN" altLang="en-US" sz="400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F8A443CE-B015-B5A1-C321-C3C5592F6C6A}"/>
              </a:ext>
            </a:extLst>
          </p:cNvPr>
          <p:cNvSpPr txBox="1"/>
          <p:nvPr/>
        </p:nvSpPr>
        <p:spPr>
          <a:xfrm>
            <a:off x="2834071" y="1491716"/>
            <a:ext cx="4701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DRAM.rd</a:t>
            </a:r>
            <a:endParaRPr lang="en-US" altLang="zh-CN" sz="400" dirty="0"/>
          </a:p>
          <a:p>
            <a:endParaRPr lang="zh-CN" altLang="en-US" sz="4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D2F69451-81DB-6641-97F9-A75097A47BDB}"/>
              </a:ext>
            </a:extLst>
          </p:cNvPr>
          <p:cNvSpPr txBox="1"/>
          <p:nvPr/>
        </p:nvSpPr>
        <p:spPr>
          <a:xfrm>
            <a:off x="3114572" y="1599331"/>
            <a:ext cx="3751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NPC.pc4</a:t>
            </a:r>
          </a:p>
          <a:p>
            <a:endParaRPr lang="zh-CN" altLang="en-US" sz="400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713746A-36CB-0A81-892D-62066B2D518E}"/>
              </a:ext>
            </a:extLst>
          </p:cNvPr>
          <p:cNvSpPr txBox="1"/>
          <p:nvPr/>
        </p:nvSpPr>
        <p:spPr>
          <a:xfrm>
            <a:off x="2962219" y="2144910"/>
            <a:ext cx="58312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inst</a:t>
            </a:r>
            <a:r>
              <a:rPr lang="en-US" altLang="zh-CN" sz="400" dirty="0"/>
              <a:t>[31:7]</a:t>
            </a:r>
            <a:endParaRPr lang="zh-CN" altLang="en-US" sz="400" dirty="0"/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66F3AC0E-D61E-EBB5-7055-FB75999D1727}"/>
              </a:ext>
            </a:extLst>
          </p:cNvPr>
          <p:cNvCxnSpPr/>
          <p:nvPr/>
        </p:nvCxnSpPr>
        <p:spPr>
          <a:xfrm>
            <a:off x="3346458" y="1837378"/>
            <a:ext cx="0" cy="2113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1798FB30-AE7F-CCC7-E0A3-1E4FBB5CB883}"/>
              </a:ext>
            </a:extLst>
          </p:cNvPr>
          <p:cNvCxnSpPr>
            <a:cxnSpLocks/>
          </p:cNvCxnSpPr>
          <p:nvPr/>
        </p:nvCxnSpPr>
        <p:spPr>
          <a:xfrm>
            <a:off x="4143950" y="2048764"/>
            <a:ext cx="0" cy="2370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B91A153B-26A7-2EB5-C462-5BCDD24747BF}"/>
              </a:ext>
            </a:extLst>
          </p:cNvPr>
          <p:cNvCxnSpPr>
            <a:cxnSpLocks/>
          </p:cNvCxnSpPr>
          <p:nvPr/>
        </p:nvCxnSpPr>
        <p:spPr>
          <a:xfrm>
            <a:off x="3346456" y="2048765"/>
            <a:ext cx="8003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24A89121-F8CB-FBCD-016A-8786E3297CEB}"/>
              </a:ext>
            </a:extLst>
          </p:cNvPr>
          <p:cNvCxnSpPr>
            <a:cxnSpLocks/>
          </p:cNvCxnSpPr>
          <p:nvPr/>
        </p:nvCxnSpPr>
        <p:spPr>
          <a:xfrm>
            <a:off x="4243152" y="1460788"/>
            <a:ext cx="315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D2912DA7-4A24-354E-3024-835070796A7B}"/>
              </a:ext>
            </a:extLst>
          </p:cNvPr>
          <p:cNvCxnSpPr>
            <a:cxnSpLocks/>
          </p:cNvCxnSpPr>
          <p:nvPr/>
        </p:nvCxnSpPr>
        <p:spPr>
          <a:xfrm flipV="1">
            <a:off x="4245515" y="1635176"/>
            <a:ext cx="313474" cy="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1500DD97-A0E3-8C94-0787-94B338FAD210}"/>
              </a:ext>
            </a:extLst>
          </p:cNvPr>
          <p:cNvCxnSpPr>
            <a:cxnSpLocks/>
          </p:cNvCxnSpPr>
          <p:nvPr/>
        </p:nvCxnSpPr>
        <p:spPr>
          <a:xfrm>
            <a:off x="4245515" y="1795656"/>
            <a:ext cx="3134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0702E563-3653-74E6-0653-8830985A4F63}"/>
              </a:ext>
            </a:extLst>
          </p:cNvPr>
          <p:cNvCxnSpPr>
            <a:cxnSpLocks/>
          </p:cNvCxnSpPr>
          <p:nvPr/>
        </p:nvCxnSpPr>
        <p:spPr>
          <a:xfrm>
            <a:off x="4243152" y="1460788"/>
            <a:ext cx="2365" cy="1070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A8FEB7C5-C633-FFCD-8AE9-72B3F0107AEB}"/>
              </a:ext>
            </a:extLst>
          </p:cNvPr>
          <p:cNvCxnSpPr>
            <a:cxnSpLocks/>
          </p:cNvCxnSpPr>
          <p:nvPr/>
        </p:nvCxnSpPr>
        <p:spPr>
          <a:xfrm flipH="1">
            <a:off x="2766096" y="2531162"/>
            <a:ext cx="14794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3520BA09-C8E0-0764-E433-40C077C591C4}"/>
              </a:ext>
            </a:extLst>
          </p:cNvPr>
          <p:cNvSpPr txBox="1"/>
          <p:nvPr/>
        </p:nvSpPr>
        <p:spPr>
          <a:xfrm>
            <a:off x="4188229" y="1353299"/>
            <a:ext cx="40524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inst</a:t>
            </a:r>
            <a:r>
              <a:rPr lang="en-US" altLang="zh-CN" sz="400" dirty="0"/>
              <a:t>[19:15]</a:t>
            </a:r>
            <a:endParaRPr lang="zh-CN" altLang="en-US" sz="400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DB3102A-3982-3A05-5015-9E1B68B50588}"/>
              </a:ext>
            </a:extLst>
          </p:cNvPr>
          <p:cNvSpPr txBox="1"/>
          <p:nvPr/>
        </p:nvSpPr>
        <p:spPr>
          <a:xfrm>
            <a:off x="4183983" y="1513115"/>
            <a:ext cx="40524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inst</a:t>
            </a:r>
            <a:r>
              <a:rPr lang="en-US" altLang="zh-CN" sz="400" dirty="0"/>
              <a:t>[24:20]</a:t>
            </a:r>
            <a:endParaRPr lang="zh-CN" altLang="en-US" sz="4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55570AAC-8AAC-4412-1DC2-4B184166DA20}"/>
              </a:ext>
            </a:extLst>
          </p:cNvPr>
          <p:cNvSpPr txBox="1"/>
          <p:nvPr/>
        </p:nvSpPr>
        <p:spPr>
          <a:xfrm>
            <a:off x="4202750" y="1689223"/>
            <a:ext cx="40524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inst</a:t>
            </a:r>
            <a:r>
              <a:rPr lang="en-US" altLang="zh-CN" sz="400" dirty="0"/>
              <a:t>[11:7]</a:t>
            </a:r>
            <a:endParaRPr lang="zh-CN" altLang="en-US" sz="4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B5C6530F-7D17-C6A7-9F16-2F294DDDD9D2}"/>
              </a:ext>
            </a:extLst>
          </p:cNvPr>
          <p:cNvSpPr txBox="1"/>
          <p:nvPr/>
        </p:nvSpPr>
        <p:spPr>
          <a:xfrm>
            <a:off x="2712115" y="2410924"/>
            <a:ext cx="39943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IROM.inst</a:t>
            </a:r>
            <a:endParaRPr lang="zh-CN" altLang="en-US" sz="400" dirty="0"/>
          </a:p>
        </p:txBody>
      </p: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5BA78A24-7790-2DFA-6EB8-1FBA4EADCE08}"/>
              </a:ext>
            </a:extLst>
          </p:cNvPr>
          <p:cNvCxnSpPr>
            <a:stCxn id="62" idx="2"/>
          </p:cNvCxnSpPr>
          <p:nvPr/>
        </p:nvCxnSpPr>
        <p:spPr>
          <a:xfrm flipV="1">
            <a:off x="3867401" y="1668759"/>
            <a:ext cx="197117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EF09B61C-C104-1FA8-5217-43D74FE576BB}"/>
              </a:ext>
            </a:extLst>
          </p:cNvPr>
          <p:cNvCxnSpPr/>
          <p:nvPr/>
        </p:nvCxnSpPr>
        <p:spPr>
          <a:xfrm>
            <a:off x="4064518" y="1140389"/>
            <a:ext cx="82006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6E4345DC-729E-B063-2C39-8DEDFB511B6E}"/>
              </a:ext>
            </a:extLst>
          </p:cNvPr>
          <p:cNvCxnSpPr/>
          <p:nvPr/>
        </p:nvCxnSpPr>
        <p:spPr>
          <a:xfrm>
            <a:off x="4064516" y="1290970"/>
            <a:ext cx="0" cy="3777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D888FD1A-C937-B80D-C30F-0798DEC688EA}"/>
              </a:ext>
            </a:extLst>
          </p:cNvPr>
          <p:cNvCxnSpPr>
            <a:cxnSpLocks/>
          </p:cNvCxnSpPr>
          <p:nvPr/>
        </p:nvCxnSpPr>
        <p:spPr>
          <a:xfrm>
            <a:off x="4884586" y="1140389"/>
            <a:ext cx="0" cy="208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30B12108-E6A6-CE54-4FEB-C64E1CF3DB39}"/>
              </a:ext>
            </a:extLst>
          </p:cNvPr>
          <p:cNvCxnSpPr>
            <a:cxnSpLocks/>
          </p:cNvCxnSpPr>
          <p:nvPr/>
        </p:nvCxnSpPr>
        <p:spPr>
          <a:xfrm>
            <a:off x="5221917" y="1571009"/>
            <a:ext cx="2156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C79366F6-1C48-02FB-F721-3A7496DD576E}"/>
              </a:ext>
            </a:extLst>
          </p:cNvPr>
          <p:cNvCxnSpPr>
            <a:cxnSpLocks/>
          </p:cNvCxnSpPr>
          <p:nvPr/>
        </p:nvCxnSpPr>
        <p:spPr>
          <a:xfrm flipV="1">
            <a:off x="5217276" y="1723548"/>
            <a:ext cx="2249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608E9FA6-D37B-797F-3465-19D58F1E417C}"/>
              </a:ext>
            </a:extLst>
          </p:cNvPr>
          <p:cNvCxnSpPr>
            <a:cxnSpLocks/>
          </p:cNvCxnSpPr>
          <p:nvPr/>
        </p:nvCxnSpPr>
        <p:spPr>
          <a:xfrm>
            <a:off x="3021356" y="2290684"/>
            <a:ext cx="0" cy="2404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9FF41702-0952-3384-9610-F92FF9A46B4E}"/>
              </a:ext>
            </a:extLst>
          </p:cNvPr>
          <p:cNvCxnSpPr/>
          <p:nvPr/>
        </p:nvCxnSpPr>
        <p:spPr>
          <a:xfrm>
            <a:off x="4064516" y="1140388"/>
            <a:ext cx="0" cy="150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BFAA709B-214C-4274-B86A-169C3A95F932}"/>
              </a:ext>
            </a:extLst>
          </p:cNvPr>
          <p:cNvCxnSpPr>
            <a:cxnSpLocks/>
          </p:cNvCxnSpPr>
          <p:nvPr/>
        </p:nvCxnSpPr>
        <p:spPr>
          <a:xfrm>
            <a:off x="3017178" y="2290050"/>
            <a:ext cx="280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678283B0-C4F8-B690-22B1-38350073F9ED}"/>
              </a:ext>
            </a:extLst>
          </p:cNvPr>
          <p:cNvCxnSpPr>
            <a:cxnSpLocks/>
          </p:cNvCxnSpPr>
          <p:nvPr/>
        </p:nvCxnSpPr>
        <p:spPr>
          <a:xfrm flipV="1">
            <a:off x="5442258" y="1317436"/>
            <a:ext cx="0" cy="2572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8E93F20F-53FF-86D0-9EA5-0EE090CC1010}"/>
              </a:ext>
            </a:extLst>
          </p:cNvPr>
          <p:cNvCxnSpPr>
            <a:cxnSpLocks/>
          </p:cNvCxnSpPr>
          <p:nvPr/>
        </p:nvCxnSpPr>
        <p:spPr>
          <a:xfrm>
            <a:off x="4069197" y="2285818"/>
            <a:ext cx="1551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1A6895FF-EB45-EB14-CD5F-CF1AEA7CFF76}"/>
              </a:ext>
            </a:extLst>
          </p:cNvPr>
          <p:cNvCxnSpPr>
            <a:cxnSpLocks/>
          </p:cNvCxnSpPr>
          <p:nvPr/>
        </p:nvCxnSpPr>
        <p:spPr>
          <a:xfrm>
            <a:off x="4215920" y="2285818"/>
            <a:ext cx="121243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88841BC8-431E-82CF-7C1B-E88D19585D13}"/>
              </a:ext>
            </a:extLst>
          </p:cNvPr>
          <p:cNvCxnSpPr>
            <a:cxnSpLocks/>
          </p:cNvCxnSpPr>
          <p:nvPr/>
        </p:nvCxnSpPr>
        <p:spPr>
          <a:xfrm flipH="1">
            <a:off x="5427964" y="1976751"/>
            <a:ext cx="2177" cy="3090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94ABBFD7-A499-3FE5-6704-A64A68968EFB}"/>
              </a:ext>
            </a:extLst>
          </p:cNvPr>
          <p:cNvCxnSpPr>
            <a:cxnSpLocks/>
          </p:cNvCxnSpPr>
          <p:nvPr/>
        </p:nvCxnSpPr>
        <p:spPr>
          <a:xfrm>
            <a:off x="6823464" y="1468150"/>
            <a:ext cx="2986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742090E7-C96F-D001-4A02-297A6E23A246}"/>
              </a:ext>
            </a:extLst>
          </p:cNvPr>
          <p:cNvCxnSpPr>
            <a:cxnSpLocks/>
          </p:cNvCxnSpPr>
          <p:nvPr/>
        </p:nvCxnSpPr>
        <p:spPr>
          <a:xfrm>
            <a:off x="6821318" y="1676577"/>
            <a:ext cx="3414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B1108AC4-4653-FF29-DCF1-D52C77DEE45B}"/>
              </a:ext>
            </a:extLst>
          </p:cNvPr>
          <p:cNvCxnSpPr>
            <a:cxnSpLocks/>
          </p:cNvCxnSpPr>
          <p:nvPr/>
        </p:nvCxnSpPr>
        <p:spPr>
          <a:xfrm>
            <a:off x="1886674" y="723083"/>
            <a:ext cx="527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8F880A0D-577F-8EB5-A244-3EAE6D56B056}"/>
              </a:ext>
            </a:extLst>
          </p:cNvPr>
          <p:cNvCxnSpPr>
            <a:cxnSpLocks/>
          </p:cNvCxnSpPr>
          <p:nvPr/>
        </p:nvCxnSpPr>
        <p:spPr>
          <a:xfrm>
            <a:off x="3286684" y="721827"/>
            <a:ext cx="0" cy="647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840B0786-7898-7A57-F938-2E7B8FEEB64E}"/>
              </a:ext>
            </a:extLst>
          </p:cNvPr>
          <p:cNvCxnSpPr>
            <a:cxnSpLocks/>
          </p:cNvCxnSpPr>
          <p:nvPr/>
        </p:nvCxnSpPr>
        <p:spPr>
          <a:xfrm>
            <a:off x="7160184" y="722770"/>
            <a:ext cx="0" cy="15029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矩形 165">
            <a:extLst>
              <a:ext uri="{FF2B5EF4-FFF2-40B4-BE49-F238E27FC236}">
                <a16:creationId xmlns:a16="http://schemas.microsoft.com/office/drawing/2014/main" id="{5959C236-CCD3-EE4A-56CF-6AE5744D5492}"/>
              </a:ext>
            </a:extLst>
          </p:cNvPr>
          <p:cNvSpPr/>
          <p:nvPr/>
        </p:nvSpPr>
        <p:spPr>
          <a:xfrm>
            <a:off x="1400136" y="1888069"/>
            <a:ext cx="443906" cy="580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63" dirty="0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F2BD3A71-DF2E-6D17-2C46-D005F2646CEA}"/>
              </a:ext>
            </a:extLst>
          </p:cNvPr>
          <p:cNvSpPr/>
          <p:nvPr/>
        </p:nvSpPr>
        <p:spPr>
          <a:xfrm>
            <a:off x="2009735" y="1888070"/>
            <a:ext cx="398186" cy="580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63" dirty="0"/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C430349A-7815-948C-EF30-4C7566A85F94}"/>
              </a:ext>
            </a:extLst>
          </p:cNvPr>
          <p:cNvSpPr txBox="1"/>
          <p:nvPr/>
        </p:nvSpPr>
        <p:spPr>
          <a:xfrm>
            <a:off x="748347" y="1728472"/>
            <a:ext cx="3994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NPC</a:t>
            </a:r>
            <a:endParaRPr lang="zh-CN" altLang="en-US" sz="700" dirty="0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208F7AE6-1D79-B68C-CAD5-3CA9D9A747FA}"/>
              </a:ext>
            </a:extLst>
          </p:cNvPr>
          <p:cNvSpPr txBox="1"/>
          <p:nvPr/>
        </p:nvSpPr>
        <p:spPr>
          <a:xfrm>
            <a:off x="1456093" y="1728472"/>
            <a:ext cx="3994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 PC</a:t>
            </a:r>
            <a:endParaRPr lang="zh-CN" altLang="en-US" sz="700" dirty="0"/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135A5865-A764-3D3D-4EB4-35887D804D0C}"/>
              </a:ext>
            </a:extLst>
          </p:cNvPr>
          <p:cNvSpPr txBox="1"/>
          <p:nvPr/>
        </p:nvSpPr>
        <p:spPr>
          <a:xfrm>
            <a:off x="2019973" y="1733551"/>
            <a:ext cx="3994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IROM</a:t>
            </a:r>
            <a:endParaRPr lang="zh-CN" altLang="en-US" sz="700" dirty="0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79B7E8C1-6D8E-501F-9E37-701AE6E1C29D}"/>
              </a:ext>
            </a:extLst>
          </p:cNvPr>
          <p:cNvSpPr txBox="1"/>
          <p:nvPr/>
        </p:nvSpPr>
        <p:spPr>
          <a:xfrm>
            <a:off x="620203" y="1916679"/>
            <a:ext cx="65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PC</a:t>
            </a:r>
          </a:p>
          <a:p>
            <a:endParaRPr lang="en-US" altLang="zh-CN" sz="400" dirty="0"/>
          </a:p>
          <a:p>
            <a:r>
              <a:rPr lang="en-US" altLang="zh-CN" sz="400" dirty="0" err="1"/>
              <a:t>br</a:t>
            </a:r>
            <a:endParaRPr lang="en-US" altLang="zh-CN" sz="400" dirty="0"/>
          </a:p>
          <a:p>
            <a:endParaRPr lang="en-US" altLang="zh-CN" sz="400" dirty="0"/>
          </a:p>
          <a:p>
            <a:r>
              <a:rPr lang="en-US" altLang="zh-CN" sz="400" dirty="0"/>
              <a:t>offset</a:t>
            </a:r>
          </a:p>
          <a:p>
            <a:endParaRPr lang="en-US" altLang="zh-CN" sz="400" dirty="0"/>
          </a:p>
          <a:p>
            <a:r>
              <a:rPr lang="en-US" altLang="zh-CN" sz="400" dirty="0"/>
              <a:t>op</a:t>
            </a:r>
            <a:endParaRPr lang="zh-CN" altLang="en-US" sz="400" dirty="0"/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8971064F-BE96-CBC6-E869-A40EE57CBAC8}"/>
              </a:ext>
            </a:extLst>
          </p:cNvPr>
          <p:cNvSpPr txBox="1"/>
          <p:nvPr/>
        </p:nvSpPr>
        <p:spPr>
          <a:xfrm>
            <a:off x="955481" y="2039790"/>
            <a:ext cx="659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npc</a:t>
            </a:r>
            <a:endParaRPr lang="en-US" altLang="zh-CN" sz="400" dirty="0"/>
          </a:p>
          <a:p>
            <a:endParaRPr lang="en-US" altLang="zh-CN" sz="400" dirty="0"/>
          </a:p>
          <a:p>
            <a:r>
              <a:rPr lang="en-US" altLang="zh-CN" sz="400" dirty="0"/>
              <a:t>pc4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65C6AE16-6FA7-E5CF-BF07-6B14ECA48E2B}"/>
              </a:ext>
            </a:extLst>
          </p:cNvPr>
          <p:cNvSpPr txBox="1"/>
          <p:nvPr/>
        </p:nvSpPr>
        <p:spPr>
          <a:xfrm>
            <a:off x="1350396" y="1913893"/>
            <a:ext cx="659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rst</a:t>
            </a:r>
            <a:endParaRPr lang="en-US" altLang="zh-CN" sz="400" dirty="0"/>
          </a:p>
          <a:p>
            <a:endParaRPr lang="en-US" altLang="zh-CN" sz="400" dirty="0"/>
          </a:p>
          <a:p>
            <a:r>
              <a:rPr lang="en-US" altLang="zh-CN" sz="400" dirty="0"/>
              <a:t>din</a:t>
            </a:r>
          </a:p>
        </p:txBody>
      </p:sp>
      <p:sp>
        <p:nvSpPr>
          <p:cNvPr id="175" name="等腰三角形 174">
            <a:extLst>
              <a:ext uri="{FF2B5EF4-FFF2-40B4-BE49-F238E27FC236}">
                <a16:creationId xmlns:a16="http://schemas.microsoft.com/office/drawing/2014/main" id="{4569FA6E-2CD9-0BA6-C7BB-209B65EF75E6}"/>
              </a:ext>
            </a:extLst>
          </p:cNvPr>
          <p:cNvSpPr/>
          <p:nvPr/>
        </p:nvSpPr>
        <p:spPr>
          <a:xfrm>
            <a:off x="1543905" y="2368008"/>
            <a:ext cx="149752" cy="10050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700"/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983F4ABA-9900-D59C-4EEA-1441D361CD5A}"/>
              </a:ext>
            </a:extLst>
          </p:cNvPr>
          <p:cNvSpPr txBox="1"/>
          <p:nvPr/>
        </p:nvSpPr>
        <p:spPr>
          <a:xfrm>
            <a:off x="1673750" y="2080521"/>
            <a:ext cx="33793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pc</a:t>
            </a:r>
            <a:endParaRPr lang="zh-CN" altLang="en-US" sz="400" dirty="0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7C2E7009-F1A1-71E7-271C-322048BDB03F}"/>
              </a:ext>
            </a:extLst>
          </p:cNvPr>
          <p:cNvSpPr txBox="1"/>
          <p:nvPr/>
        </p:nvSpPr>
        <p:spPr>
          <a:xfrm>
            <a:off x="1501954" y="2236895"/>
            <a:ext cx="33793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clk</a:t>
            </a:r>
            <a:endParaRPr lang="zh-CN" altLang="en-US" sz="400" dirty="0"/>
          </a:p>
        </p:txBody>
      </p: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AA60978E-FF12-2F58-F1AB-4AA7810052B4}"/>
              </a:ext>
            </a:extLst>
          </p:cNvPr>
          <p:cNvCxnSpPr>
            <a:cxnSpLocks/>
          </p:cNvCxnSpPr>
          <p:nvPr/>
        </p:nvCxnSpPr>
        <p:spPr>
          <a:xfrm>
            <a:off x="1160223" y="2116301"/>
            <a:ext cx="2312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4" name="流程图: 手动操作 183">
            <a:extLst>
              <a:ext uri="{FF2B5EF4-FFF2-40B4-BE49-F238E27FC236}">
                <a16:creationId xmlns:a16="http://schemas.microsoft.com/office/drawing/2014/main" id="{560DEB31-D3AE-EA71-59B9-85444FE97533}"/>
              </a:ext>
            </a:extLst>
          </p:cNvPr>
          <p:cNvSpPr/>
          <p:nvPr/>
        </p:nvSpPr>
        <p:spPr>
          <a:xfrm rot="5400000">
            <a:off x="1186186" y="1056628"/>
            <a:ext cx="645879" cy="368141"/>
          </a:xfrm>
          <a:prstGeom prst="flowChartManualOpe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700" dirty="0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32A594C8-886E-0D75-9DA2-7DAEDC7807D9}"/>
              </a:ext>
            </a:extLst>
          </p:cNvPr>
          <p:cNvSpPr txBox="1"/>
          <p:nvPr/>
        </p:nvSpPr>
        <p:spPr>
          <a:xfrm>
            <a:off x="1338855" y="1075315"/>
            <a:ext cx="452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MUX</a:t>
            </a:r>
          </a:p>
          <a:p>
            <a:r>
              <a:rPr lang="en-US" altLang="zh-CN" sz="700" dirty="0"/>
              <a:t> 2_1</a:t>
            </a:r>
            <a:endParaRPr lang="zh-CN" altLang="en-US" sz="700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EC0E1731-6259-E8A1-8C6B-AEAE92396DBC}"/>
              </a:ext>
            </a:extLst>
          </p:cNvPr>
          <p:cNvSpPr txBox="1"/>
          <p:nvPr/>
        </p:nvSpPr>
        <p:spPr>
          <a:xfrm>
            <a:off x="1371877" y="1342245"/>
            <a:ext cx="3533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 err="1"/>
              <a:t>sel</a:t>
            </a:r>
            <a:endParaRPr lang="en-US" altLang="zh-CN" sz="700" dirty="0"/>
          </a:p>
        </p:txBody>
      </p: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5D2C8E0B-D51D-5A87-122B-A3A9C5505EF8}"/>
              </a:ext>
            </a:extLst>
          </p:cNvPr>
          <p:cNvCxnSpPr>
            <a:cxnSpLocks/>
          </p:cNvCxnSpPr>
          <p:nvPr/>
        </p:nvCxnSpPr>
        <p:spPr>
          <a:xfrm>
            <a:off x="453224" y="2002332"/>
            <a:ext cx="2019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A8584F4A-1C92-5FF7-6100-EAC0611BCFC4}"/>
              </a:ext>
            </a:extLst>
          </p:cNvPr>
          <p:cNvCxnSpPr>
            <a:cxnSpLocks/>
          </p:cNvCxnSpPr>
          <p:nvPr/>
        </p:nvCxnSpPr>
        <p:spPr>
          <a:xfrm>
            <a:off x="457715" y="1258252"/>
            <a:ext cx="8720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76AD3FD6-E69C-469F-B5AA-59AF3FAAC4BE}"/>
              </a:ext>
            </a:extLst>
          </p:cNvPr>
          <p:cNvCxnSpPr>
            <a:cxnSpLocks/>
          </p:cNvCxnSpPr>
          <p:nvPr/>
        </p:nvCxnSpPr>
        <p:spPr>
          <a:xfrm>
            <a:off x="457201" y="1257908"/>
            <a:ext cx="0" cy="7431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1" name="文本框 200">
            <a:extLst>
              <a:ext uri="{FF2B5EF4-FFF2-40B4-BE49-F238E27FC236}">
                <a16:creationId xmlns:a16="http://schemas.microsoft.com/office/drawing/2014/main" id="{A83B95C3-32BD-EE7D-AEB0-E62692E17522}"/>
              </a:ext>
            </a:extLst>
          </p:cNvPr>
          <p:cNvSpPr txBox="1"/>
          <p:nvPr/>
        </p:nvSpPr>
        <p:spPr>
          <a:xfrm>
            <a:off x="1959996" y="2077489"/>
            <a:ext cx="10372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adr</a:t>
            </a:r>
            <a:r>
              <a:rPr lang="en-US" altLang="zh-CN" sz="400" dirty="0"/>
              <a:t>                 </a:t>
            </a:r>
            <a:r>
              <a:rPr lang="en-US" altLang="zh-CN" sz="400" dirty="0" err="1"/>
              <a:t>inst</a:t>
            </a:r>
            <a:endParaRPr lang="en-US" altLang="zh-CN" sz="400" dirty="0"/>
          </a:p>
        </p:txBody>
      </p: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ADC31E77-48E1-5D00-1FB7-EAEE80BC3902}"/>
              </a:ext>
            </a:extLst>
          </p:cNvPr>
          <p:cNvCxnSpPr>
            <a:cxnSpLocks/>
          </p:cNvCxnSpPr>
          <p:nvPr/>
        </p:nvCxnSpPr>
        <p:spPr>
          <a:xfrm>
            <a:off x="1846692" y="2156897"/>
            <a:ext cx="157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DCEF80DC-EB0B-837F-B00D-ACA66FA694E3}"/>
              </a:ext>
            </a:extLst>
          </p:cNvPr>
          <p:cNvCxnSpPr>
            <a:cxnSpLocks/>
          </p:cNvCxnSpPr>
          <p:nvPr/>
        </p:nvCxnSpPr>
        <p:spPr>
          <a:xfrm flipH="1">
            <a:off x="1705071" y="1363511"/>
            <a:ext cx="1775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E1E2FEC5-EE6C-7345-E80E-432AA7ADF558}"/>
              </a:ext>
            </a:extLst>
          </p:cNvPr>
          <p:cNvCxnSpPr>
            <a:cxnSpLocks/>
          </p:cNvCxnSpPr>
          <p:nvPr/>
        </p:nvCxnSpPr>
        <p:spPr>
          <a:xfrm>
            <a:off x="1885307" y="1360918"/>
            <a:ext cx="0" cy="7971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4BAF0B29-FEDC-F8A5-7C50-7FA248CCD38A}"/>
              </a:ext>
            </a:extLst>
          </p:cNvPr>
          <p:cNvCxnSpPr>
            <a:cxnSpLocks/>
          </p:cNvCxnSpPr>
          <p:nvPr/>
        </p:nvCxnSpPr>
        <p:spPr>
          <a:xfrm>
            <a:off x="1241147" y="1667936"/>
            <a:ext cx="0" cy="329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E9B91293-14D7-6E19-3909-FC4E0DE92DC6}"/>
              </a:ext>
            </a:extLst>
          </p:cNvPr>
          <p:cNvCxnSpPr>
            <a:cxnSpLocks/>
          </p:cNvCxnSpPr>
          <p:nvPr/>
        </p:nvCxnSpPr>
        <p:spPr>
          <a:xfrm>
            <a:off x="1237093" y="1996032"/>
            <a:ext cx="157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0" name="文本框 229">
            <a:extLst>
              <a:ext uri="{FF2B5EF4-FFF2-40B4-BE49-F238E27FC236}">
                <a16:creationId xmlns:a16="http://schemas.microsoft.com/office/drawing/2014/main" id="{037BDB52-E639-F121-0665-988F110F376C}"/>
              </a:ext>
            </a:extLst>
          </p:cNvPr>
          <p:cNvSpPr txBox="1"/>
          <p:nvPr/>
        </p:nvSpPr>
        <p:spPr>
          <a:xfrm>
            <a:off x="1092199" y="1552599"/>
            <a:ext cx="33866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reset</a:t>
            </a:r>
            <a:endParaRPr lang="zh-CN" altLang="en-US" sz="400" dirty="0"/>
          </a:p>
        </p:txBody>
      </p: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0A6514F4-8497-5EF5-7A64-DEB9A6047F04}"/>
              </a:ext>
            </a:extLst>
          </p:cNvPr>
          <p:cNvCxnSpPr>
            <a:cxnSpLocks/>
          </p:cNvCxnSpPr>
          <p:nvPr/>
        </p:nvCxnSpPr>
        <p:spPr>
          <a:xfrm>
            <a:off x="7122084" y="518863"/>
            <a:ext cx="0" cy="9503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451175AD-323C-7B20-2DC8-3DFCC356DCCC}"/>
              </a:ext>
            </a:extLst>
          </p:cNvPr>
          <p:cNvCxnSpPr>
            <a:cxnSpLocks/>
          </p:cNvCxnSpPr>
          <p:nvPr/>
        </p:nvCxnSpPr>
        <p:spPr>
          <a:xfrm>
            <a:off x="317501" y="519882"/>
            <a:ext cx="68092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9F4D0EFA-C6A5-B987-5CAD-0CDF3E50F72C}"/>
              </a:ext>
            </a:extLst>
          </p:cNvPr>
          <p:cNvCxnSpPr>
            <a:cxnSpLocks/>
          </p:cNvCxnSpPr>
          <p:nvPr/>
        </p:nvCxnSpPr>
        <p:spPr>
          <a:xfrm>
            <a:off x="320041" y="521686"/>
            <a:ext cx="0" cy="1608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CB8FAFD5-4CEC-6CD0-445B-21CDC8D2EC97}"/>
              </a:ext>
            </a:extLst>
          </p:cNvPr>
          <p:cNvCxnSpPr>
            <a:cxnSpLocks/>
          </p:cNvCxnSpPr>
          <p:nvPr/>
        </p:nvCxnSpPr>
        <p:spPr>
          <a:xfrm>
            <a:off x="321734" y="2127611"/>
            <a:ext cx="3334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B9E19F6E-1714-9AA7-6352-CCCE3026D093}"/>
              </a:ext>
            </a:extLst>
          </p:cNvPr>
          <p:cNvCxnSpPr>
            <a:cxnSpLocks/>
          </p:cNvCxnSpPr>
          <p:nvPr/>
        </p:nvCxnSpPr>
        <p:spPr>
          <a:xfrm>
            <a:off x="2415444" y="2155364"/>
            <a:ext cx="3506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3FF2A681-101E-FB7D-B94C-4D7A287569DB}"/>
              </a:ext>
            </a:extLst>
          </p:cNvPr>
          <p:cNvCxnSpPr>
            <a:cxnSpLocks/>
          </p:cNvCxnSpPr>
          <p:nvPr/>
        </p:nvCxnSpPr>
        <p:spPr>
          <a:xfrm>
            <a:off x="2766096" y="2157767"/>
            <a:ext cx="0" cy="788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689D93E7-1BE3-B919-2F55-62A2CA953ECF}"/>
              </a:ext>
            </a:extLst>
          </p:cNvPr>
          <p:cNvCxnSpPr>
            <a:cxnSpLocks/>
          </p:cNvCxnSpPr>
          <p:nvPr/>
        </p:nvCxnSpPr>
        <p:spPr>
          <a:xfrm>
            <a:off x="1156247" y="2239345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0C2947DF-9017-28D6-836D-0CA5363F7CF2}"/>
              </a:ext>
            </a:extLst>
          </p:cNvPr>
          <p:cNvCxnSpPr>
            <a:cxnSpLocks/>
          </p:cNvCxnSpPr>
          <p:nvPr/>
        </p:nvCxnSpPr>
        <p:spPr>
          <a:xfrm>
            <a:off x="2628901" y="1720922"/>
            <a:ext cx="5639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5397875D-452E-34C0-FB2A-C33322864579}"/>
              </a:ext>
            </a:extLst>
          </p:cNvPr>
          <p:cNvCxnSpPr>
            <a:cxnSpLocks/>
          </p:cNvCxnSpPr>
          <p:nvPr/>
        </p:nvCxnSpPr>
        <p:spPr>
          <a:xfrm>
            <a:off x="2633134" y="1720920"/>
            <a:ext cx="0" cy="8561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3" name="直接连接符 262">
            <a:extLst>
              <a:ext uri="{FF2B5EF4-FFF2-40B4-BE49-F238E27FC236}">
                <a16:creationId xmlns:a16="http://schemas.microsoft.com/office/drawing/2014/main" id="{CC2AFE71-3266-C7D8-6F25-F60052A3FF75}"/>
              </a:ext>
            </a:extLst>
          </p:cNvPr>
          <p:cNvCxnSpPr>
            <a:cxnSpLocks/>
          </p:cNvCxnSpPr>
          <p:nvPr/>
        </p:nvCxnSpPr>
        <p:spPr>
          <a:xfrm>
            <a:off x="1303867" y="2241913"/>
            <a:ext cx="0" cy="3351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1A356A7E-4702-0866-1BAE-7EB31D0D5300}"/>
              </a:ext>
            </a:extLst>
          </p:cNvPr>
          <p:cNvCxnSpPr>
            <a:cxnSpLocks/>
          </p:cNvCxnSpPr>
          <p:nvPr/>
        </p:nvCxnSpPr>
        <p:spPr>
          <a:xfrm>
            <a:off x="1308100" y="2577061"/>
            <a:ext cx="13255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直接连接符 274">
            <a:extLst>
              <a:ext uri="{FF2B5EF4-FFF2-40B4-BE49-F238E27FC236}">
                <a16:creationId xmlns:a16="http://schemas.microsoft.com/office/drawing/2014/main" id="{80D7929E-51DA-37AC-A4FA-A4328DA4A35A}"/>
              </a:ext>
            </a:extLst>
          </p:cNvPr>
          <p:cNvCxnSpPr>
            <a:cxnSpLocks/>
          </p:cNvCxnSpPr>
          <p:nvPr/>
        </p:nvCxnSpPr>
        <p:spPr>
          <a:xfrm>
            <a:off x="4143950" y="2275289"/>
            <a:ext cx="0" cy="391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7" name="直接箭头连接符 276">
            <a:extLst>
              <a:ext uri="{FF2B5EF4-FFF2-40B4-BE49-F238E27FC236}">
                <a16:creationId xmlns:a16="http://schemas.microsoft.com/office/drawing/2014/main" id="{B7297B9A-508F-951F-D578-845E90D14E37}"/>
              </a:ext>
            </a:extLst>
          </p:cNvPr>
          <p:cNvCxnSpPr>
            <a:cxnSpLocks/>
          </p:cNvCxnSpPr>
          <p:nvPr/>
        </p:nvCxnSpPr>
        <p:spPr>
          <a:xfrm>
            <a:off x="321734" y="2242624"/>
            <a:ext cx="3334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8" name="直接连接符 277">
            <a:extLst>
              <a:ext uri="{FF2B5EF4-FFF2-40B4-BE49-F238E27FC236}">
                <a16:creationId xmlns:a16="http://schemas.microsoft.com/office/drawing/2014/main" id="{2B0829BE-3E67-1843-2D7D-6315843D1B7A}"/>
              </a:ext>
            </a:extLst>
          </p:cNvPr>
          <p:cNvCxnSpPr>
            <a:cxnSpLocks/>
          </p:cNvCxnSpPr>
          <p:nvPr/>
        </p:nvCxnSpPr>
        <p:spPr>
          <a:xfrm>
            <a:off x="317501" y="2659486"/>
            <a:ext cx="38306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直接连接符 279">
            <a:extLst>
              <a:ext uri="{FF2B5EF4-FFF2-40B4-BE49-F238E27FC236}">
                <a16:creationId xmlns:a16="http://schemas.microsoft.com/office/drawing/2014/main" id="{C6B3F1B3-2F97-95A9-853F-112C4E719D60}"/>
              </a:ext>
            </a:extLst>
          </p:cNvPr>
          <p:cNvCxnSpPr>
            <a:cxnSpLocks/>
          </p:cNvCxnSpPr>
          <p:nvPr/>
        </p:nvCxnSpPr>
        <p:spPr>
          <a:xfrm>
            <a:off x="321734" y="2239900"/>
            <a:ext cx="0" cy="4169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矩形 287">
            <a:extLst>
              <a:ext uri="{FF2B5EF4-FFF2-40B4-BE49-F238E27FC236}">
                <a16:creationId xmlns:a16="http://schemas.microsoft.com/office/drawing/2014/main" id="{925DA446-E255-FE27-9B8C-44B4D460684E}"/>
              </a:ext>
            </a:extLst>
          </p:cNvPr>
          <p:cNvSpPr/>
          <p:nvPr/>
        </p:nvSpPr>
        <p:spPr>
          <a:xfrm>
            <a:off x="6491478" y="2484966"/>
            <a:ext cx="381712" cy="6307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9" name="文本框 288">
            <a:extLst>
              <a:ext uri="{FF2B5EF4-FFF2-40B4-BE49-F238E27FC236}">
                <a16:creationId xmlns:a16="http://schemas.microsoft.com/office/drawing/2014/main" id="{FE195B4C-D60C-CF37-0790-4E9A4CB6371C}"/>
              </a:ext>
            </a:extLst>
          </p:cNvPr>
          <p:cNvSpPr txBox="1"/>
          <p:nvPr/>
        </p:nvSpPr>
        <p:spPr>
          <a:xfrm>
            <a:off x="6483013" y="2315099"/>
            <a:ext cx="4761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DRAM</a:t>
            </a:r>
            <a:endParaRPr lang="zh-CN" altLang="en-US" sz="7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220194-E3CA-6365-949E-886E2BF1DAB1}"/>
              </a:ext>
            </a:extLst>
          </p:cNvPr>
          <p:cNvSpPr txBox="1"/>
          <p:nvPr/>
        </p:nvSpPr>
        <p:spPr>
          <a:xfrm>
            <a:off x="6442602" y="2569865"/>
            <a:ext cx="659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adr</a:t>
            </a:r>
            <a:endParaRPr lang="en-US" altLang="zh-CN" sz="400" dirty="0"/>
          </a:p>
          <a:p>
            <a:endParaRPr lang="en-US" altLang="zh-CN" sz="400" dirty="0"/>
          </a:p>
          <a:p>
            <a:endParaRPr lang="en-US" altLang="zh-CN" sz="400" dirty="0"/>
          </a:p>
          <a:p>
            <a:endParaRPr lang="en-US" altLang="zh-CN" sz="400" dirty="0"/>
          </a:p>
          <a:p>
            <a:endParaRPr lang="en-US" altLang="zh-CN" sz="400" dirty="0"/>
          </a:p>
          <a:p>
            <a:r>
              <a:rPr lang="en-US" altLang="zh-CN" sz="400" dirty="0" err="1"/>
              <a:t>wdin</a:t>
            </a:r>
            <a:endParaRPr lang="zh-CN" altLang="en-US" sz="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03D577-BCF6-5ED9-596D-29E114479FEA}"/>
              </a:ext>
            </a:extLst>
          </p:cNvPr>
          <p:cNvSpPr txBox="1"/>
          <p:nvPr/>
        </p:nvSpPr>
        <p:spPr>
          <a:xfrm>
            <a:off x="6700213" y="2720709"/>
            <a:ext cx="109273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rd</a:t>
            </a:r>
            <a:endParaRPr lang="zh-CN" altLang="en-US" sz="40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84571ED-E4FA-0AC5-0832-1492403B66CF}"/>
              </a:ext>
            </a:extLst>
          </p:cNvPr>
          <p:cNvCxnSpPr>
            <a:cxnSpLocks/>
          </p:cNvCxnSpPr>
          <p:nvPr/>
        </p:nvCxnSpPr>
        <p:spPr>
          <a:xfrm>
            <a:off x="1888076" y="721827"/>
            <a:ext cx="0" cy="3845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490B284-55ED-1A9E-16B3-37E28009029E}"/>
              </a:ext>
            </a:extLst>
          </p:cNvPr>
          <p:cNvCxnSpPr>
            <a:cxnSpLocks/>
          </p:cNvCxnSpPr>
          <p:nvPr/>
        </p:nvCxnSpPr>
        <p:spPr>
          <a:xfrm flipH="1">
            <a:off x="1707003" y="1105009"/>
            <a:ext cx="1775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1D00420-6B33-5887-5C95-0A74FCD43847}"/>
              </a:ext>
            </a:extLst>
          </p:cNvPr>
          <p:cNvCxnSpPr>
            <a:cxnSpLocks/>
          </p:cNvCxnSpPr>
          <p:nvPr/>
        </p:nvCxnSpPr>
        <p:spPr>
          <a:xfrm flipV="1">
            <a:off x="6300280" y="2223516"/>
            <a:ext cx="855403" cy="50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69B5E1F-C4A5-B35D-3B41-0F7F55C4198A}"/>
              </a:ext>
            </a:extLst>
          </p:cNvPr>
          <p:cNvCxnSpPr>
            <a:cxnSpLocks/>
          </p:cNvCxnSpPr>
          <p:nvPr/>
        </p:nvCxnSpPr>
        <p:spPr>
          <a:xfrm>
            <a:off x="6303173" y="2225693"/>
            <a:ext cx="0" cy="424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A29439D-8159-66AA-DBD8-CBF7175216EF}"/>
              </a:ext>
            </a:extLst>
          </p:cNvPr>
          <p:cNvCxnSpPr>
            <a:cxnSpLocks/>
          </p:cNvCxnSpPr>
          <p:nvPr/>
        </p:nvCxnSpPr>
        <p:spPr>
          <a:xfrm>
            <a:off x="6300279" y="2650206"/>
            <a:ext cx="1717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F17177F-7505-7A4C-56F4-BBE31E579952}"/>
              </a:ext>
            </a:extLst>
          </p:cNvPr>
          <p:cNvCxnSpPr>
            <a:cxnSpLocks/>
          </p:cNvCxnSpPr>
          <p:nvPr/>
        </p:nvCxnSpPr>
        <p:spPr>
          <a:xfrm>
            <a:off x="2552472" y="1598208"/>
            <a:ext cx="7189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BFF082B-174C-AA81-5AEE-A5C6EDECCBA4}"/>
              </a:ext>
            </a:extLst>
          </p:cNvPr>
          <p:cNvCxnSpPr>
            <a:cxnSpLocks/>
          </p:cNvCxnSpPr>
          <p:nvPr/>
        </p:nvCxnSpPr>
        <p:spPr>
          <a:xfrm>
            <a:off x="2554041" y="1596650"/>
            <a:ext cx="0" cy="15471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336644A-E688-B320-69E8-1E0BBA5EBBFF}"/>
              </a:ext>
            </a:extLst>
          </p:cNvPr>
          <p:cNvCxnSpPr>
            <a:cxnSpLocks/>
          </p:cNvCxnSpPr>
          <p:nvPr/>
        </p:nvCxnSpPr>
        <p:spPr>
          <a:xfrm>
            <a:off x="7122069" y="2801074"/>
            <a:ext cx="0" cy="3418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D82B32F-321E-B8C3-F6E5-513A9636A416}"/>
              </a:ext>
            </a:extLst>
          </p:cNvPr>
          <p:cNvCxnSpPr>
            <a:cxnSpLocks/>
          </p:cNvCxnSpPr>
          <p:nvPr/>
        </p:nvCxnSpPr>
        <p:spPr>
          <a:xfrm>
            <a:off x="2558005" y="3142705"/>
            <a:ext cx="45640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EC9EA7B3-8C77-8967-040F-06F7B0B63A5F}"/>
              </a:ext>
            </a:extLst>
          </p:cNvPr>
          <p:cNvCxnSpPr>
            <a:cxnSpLocks/>
          </p:cNvCxnSpPr>
          <p:nvPr/>
        </p:nvCxnSpPr>
        <p:spPr>
          <a:xfrm>
            <a:off x="6881151" y="2803213"/>
            <a:ext cx="2409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1FBB0567-0F4D-A9E5-B3BB-99CD5F754976}"/>
              </a:ext>
            </a:extLst>
          </p:cNvPr>
          <p:cNvCxnSpPr>
            <a:cxnSpLocks/>
          </p:cNvCxnSpPr>
          <p:nvPr/>
        </p:nvCxnSpPr>
        <p:spPr>
          <a:xfrm flipH="1">
            <a:off x="5304665" y="1726223"/>
            <a:ext cx="1987" cy="12166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2CE96835-1361-7DCB-40B9-9D5D8285DA17}"/>
              </a:ext>
            </a:extLst>
          </p:cNvPr>
          <p:cNvCxnSpPr>
            <a:cxnSpLocks/>
          </p:cNvCxnSpPr>
          <p:nvPr/>
        </p:nvCxnSpPr>
        <p:spPr>
          <a:xfrm>
            <a:off x="5306055" y="2941501"/>
            <a:ext cx="11679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7A6E6598-AD3E-28C4-32E3-9D09B50F22B3}"/>
              </a:ext>
            </a:extLst>
          </p:cNvPr>
          <p:cNvSpPr/>
          <p:nvPr/>
        </p:nvSpPr>
        <p:spPr>
          <a:xfrm>
            <a:off x="2117556" y="3236956"/>
            <a:ext cx="2992794" cy="61324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control</a:t>
            </a:r>
            <a:endParaRPr lang="zh-CN" altLang="en-US" sz="105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4196AC6-BE9A-E860-3915-E63ACD8193DE}"/>
              </a:ext>
            </a:extLst>
          </p:cNvPr>
          <p:cNvSpPr txBox="1"/>
          <p:nvPr/>
        </p:nvSpPr>
        <p:spPr>
          <a:xfrm>
            <a:off x="2126494" y="3252363"/>
            <a:ext cx="36227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npc_sel</a:t>
            </a:r>
            <a:r>
              <a:rPr lang="en-US" altLang="zh-CN" sz="800" dirty="0"/>
              <a:t>               </a:t>
            </a:r>
            <a:r>
              <a:rPr lang="en-US" altLang="zh-CN" sz="800" dirty="0" err="1"/>
              <a:t>sext_op</a:t>
            </a:r>
            <a:r>
              <a:rPr lang="en-US" altLang="zh-CN" sz="800" dirty="0"/>
              <a:t>              </a:t>
            </a:r>
            <a:r>
              <a:rPr lang="en-US" altLang="zh-CN" sz="800" dirty="0" err="1"/>
              <a:t>rf_sel</a:t>
            </a:r>
            <a:r>
              <a:rPr lang="en-US" altLang="zh-CN" sz="800" dirty="0"/>
              <a:t>               </a:t>
            </a:r>
            <a:r>
              <a:rPr lang="en-US" altLang="zh-CN" sz="800" dirty="0" err="1"/>
              <a:t>rf_we</a:t>
            </a:r>
            <a:r>
              <a:rPr lang="en-US" altLang="zh-CN" sz="800" dirty="0"/>
              <a:t>                 </a:t>
            </a:r>
            <a:r>
              <a:rPr lang="en-US" altLang="zh-CN" sz="800" dirty="0" err="1"/>
              <a:t>alu_sel</a:t>
            </a:r>
            <a:endParaRPr lang="zh-CN" altLang="en-US" sz="8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7042E036-DDE0-872F-0E48-4807F8C3D014}"/>
              </a:ext>
            </a:extLst>
          </p:cNvPr>
          <p:cNvSpPr txBox="1"/>
          <p:nvPr/>
        </p:nvSpPr>
        <p:spPr>
          <a:xfrm>
            <a:off x="2119926" y="3433107"/>
            <a:ext cx="5011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npc_op</a:t>
            </a:r>
            <a:endParaRPr lang="zh-CN" altLang="en-US" sz="800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B2EFBFA2-1934-B9D6-C7CD-C00EF4E54CD4}"/>
              </a:ext>
            </a:extLst>
          </p:cNvPr>
          <p:cNvSpPr txBox="1"/>
          <p:nvPr/>
        </p:nvSpPr>
        <p:spPr>
          <a:xfrm>
            <a:off x="4611464" y="3437356"/>
            <a:ext cx="5011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alu_op</a:t>
            </a:r>
            <a:endParaRPr lang="zh-CN" altLang="en-US" sz="8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28C3A568-0F87-D559-4051-9603A8C8648B}"/>
              </a:ext>
            </a:extLst>
          </p:cNvPr>
          <p:cNvSpPr txBox="1"/>
          <p:nvPr/>
        </p:nvSpPr>
        <p:spPr>
          <a:xfrm>
            <a:off x="4589230" y="3573613"/>
            <a:ext cx="6092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ram_we</a:t>
            </a:r>
            <a:endParaRPr lang="zh-CN" altLang="en-US" sz="80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AA4B14DE-44AE-8872-8F3B-0F030712714F}"/>
              </a:ext>
            </a:extLst>
          </p:cNvPr>
          <p:cNvSpPr txBox="1"/>
          <p:nvPr/>
        </p:nvSpPr>
        <p:spPr>
          <a:xfrm>
            <a:off x="2739580" y="3676589"/>
            <a:ext cx="36227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opcode                func3                func7</a:t>
            </a:r>
            <a:endParaRPr lang="zh-CN" altLang="en-US" sz="800" dirty="0"/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F1A422BC-0386-AA59-83DF-3E781D05868A}"/>
              </a:ext>
            </a:extLst>
          </p:cNvPr>
          <p:cNvCxnSpPr>
            <a:cxnSpLocks/>
          </p:cNvCxnSpPr>
          <p:nvPr/>
        </p:nvCxnSpPr>
        <p:spPr>
          <a:xfrm flipV="1">
            <a:off x="393702" y="1575170"/>
            <a:ext cx="1114603" cy="37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BC10FA02-2089-4ECF-A377-0B69005663C4}"/>
              </a:ext>
            </a:extLst>
          </p:cNvPr>
          <p:cNvCxnSpPr>
            <a:cxnSpLocks/>
          </p:cNvCxnSpPr>
          <p:nvPr/>
        </p:nvCxnSpPr>
        <p:spPr>
          <a:xfrm>
            <a:off x="395823" y="1578888"/>
            <a:ext cx="0" cy="17815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F9B815E1-8A02-BF7C-5F4D-A42C79AC96B4}"/>
              </a:ext>
            </a:extLst>
          </p:cNvPr>
          <p:cNvCxnSpPr>
            <a:cxnSpLocks/>
          </p:cNvCxnSpPr>
          <p:nvPr/>
        </p:nvCxnSpPr>
        <p:spPr>
          <a:xfrm flipV="1">
            <a:off x="1513840" y="1508776"/>
            <a:ext cx="0" cy="70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98CAAA32-198A-4E07-06A3-7DAA888A1DCB}"/>
              </a:ext>
            </a:extLst>
          </p:cNvPr>
          <p:cNvCxnSpPr>
            <a:cxnSpLocks/>
          </p:cNvCxnSpPr>
          <p:nvPr/>
        </p:nvCxnSpPr>
        <p:spPr>
          <a:xfrm>
            <a:off x="398781" y="3360790"/>
            <a:ext cx="171912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205567B9-1FA3-6F3F-B0AD-928E8FD4EABA}"/>
              </a:ext>
            </a:extLst>
          </p:cNvPr>
          <p:cNvCxnSpPr>
            <a:cxnSpLocks/>
          </p:cNvCxnSpPr>
          <p:nvPr/>
        </p:nvCxnSpPr>
        <p:spPr>
          <a:xfrm flipV="1">
            <a:off x="736767" y="2468511"/>
            <a:ext cx="0" cy="1095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E4927D8B-FD06-41EF-A0F6-E09462901A1A}"/>
              </a:ext>
            </a:extLst>
          </p:cNvPr>
          <p:cNvCxnSpPr>
            <a:cxnSpLocks/>
          </p:cNvCxnSpPr>
          <p:nvPr/>
        </p:nvCxnSpPr>
        <p:spPr>
          <a:xfrm>
            <a:off x="739140" y="3561450"/>
            <a:ext cx="137305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A350ADC0-9830-FB78-58A9-DFA17D4C8E33}"/>
              </a:ext>
            </a:extLst>
          </p:cNvPr>
          <p:cNvCxnSpPr/>
          <p:nvPr/>
        </p:nvCxnSpPr>
        <p:spPr>
          <a:xfrm flipH="1" flipV="1">
            <a:off x="3683330" y="2437664"/>
            <a:ext cx="1745" cy="301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E0186519-7ED9-EA4E-E175-6EC5106E69B6}"/>
              </a:ext>
            </a:extLst>
          </p:cNvPr>
          <p:cNvCxnSpPr>
            <a:cxnSpLocks/>
          </p:cNvCxnSpPr>
          <p:nvPr/>
        </p:nvCxnSpPr>
        <p:spPr>
          <a:xfrm flipH="1">
            <a:off x="3017178" y="2736902"/>
            <a:ext cx="6661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28B1DFB8-D00D-0D6A-B8C7-CF110F87E0EC}"/>
              </a:ext>
            </a:extLst>
          </p:cNvPr>
          <p:cNvCxnSpPr>
            <a:cxnSpLocks/>
          </p:cNvCxnSpPr>
          <p:nvPr/>
        </p:nvCxnSpPr>
        <p:spPr>
          <a:xfrm>
            <a:off x="3017177" y="2738799"/>
            <a:ext cx="0" cy="493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2CE97103-BF83-B09D-85F0-4AA6FA28D1E8}"/>
              </a:ext>
            </a:extLst>
          </p:cNvPr>
          <p:cNvSpPr txBox="1"/>
          <p:nvPr/>
        </p:nvSpPr>
        <p:spPr>
          <a:xfrm>
            <a:off x="3541246" y="1772001"/>
            <a:ext cx="3533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 err="1"/>
              <a:t>sel</a:t>
            </a:r>
            <a:endParaRPr lang="en-US" altLang="zh-CN" sz="700" dirty="0"/>
          </a:p>
        </p:txBody>
      </p: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0DF2C5E2-2F29-98C7-3CC5-CDA7ADCE2830}"/>
              </a:ext>
            </a:extLst>
          </p:cNvPr>
          <p:cNvCxnSpPr>
            <a:cxnSpLocks/>
          </p:cNvCxnSpPr>
          <p:nvPr/>
        </p:nvCxnSpPr>
        <p:spPr>
          <a:xfrm flipV="1">
            <a:off x="3683329" y="1931983"/>
            <a:ext cx="0" cy="70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7E999629-D107-24EC-7D7D-707B840F3B0F}"/>
              </a:ext>
            </a:extLst>
          </p:cNvPr>
          <p:cNvCxnSpPr>
            <a:cxnSpLocks/>
          </p:cNvCxnSpPr>
          <p:nvPr/>
        </p:nvCxnSpPr>
        <p:spPr>
          <a:xfrm>
            <a:off x="3704396" y="2002602"/>
            <a:ext cx="6822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589431E6-5BAC-4133-63C1-49D8BF712716}"/>
              </a:ext>
            </a:extLst>
          </p:cNvPr>
          <p:cNvCxnSpPr>
            <a:cxnSpLocks/>
          </p:cNvCxnSpPr>
          <p:nvPr/>
        </p:nvCxnSpPr>
        <p:spPr>
          <a:xfrm flipV="1">
            <a:off x="4680942" y="2027505"/>
            <a:ext cx="0" cy="906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8144F94B-4601-EE17-9F16-23CD0B3BF291}"/>
              </a:ext>
            </a:extLst>
          </p:cNvPr>
          <p:cNvCxnSpPr>
            <a:cxnSpLocks/>
          </p:cNvCxnSpPr>
          <p:nvPr/>
        </p:nvCxnSpPr>
        <p:spPr>
          <a:xfrm>
            <a:off x="4382473" y="2002499"/>
            <a:ext cx="2252" cy="837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E405CD8B-2A72-A6F2-61CA-0D8B79B9DACF}"/>
              </a:ext>
            </a:extLst>
          </p:cNvPr>
          <p:cNvCxnSpPr>
            <a:cxnSpLocks/>
          </p:cNvCxnSpPr>
          <p:nvPr/>
        </p:nvCxnSpPr>
        <p:spPr>
          <a:xfrm>
            <a:off x="3606965" y="2836997"/>
            <a:ext cx="7779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AF8F7AAA-165C-7045-B970-41CD1FBCDC9D}"/>
              </a:ext>
            </a:extLst>
          </p:cNvPr>
          <p:cNvCxnSpPr>
            <a:cxnSpLocks/>
          </p:cNvCxnSpPr>
          <p:nvPr/>
        </p:nvCxnSpPr>
        <p:spPr>
          <a:xfrm>
            <a:off x="4197671" y="2933517"/>
            <a:ext cx="4829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4BD3C35F-143B-EE8F-51AC-729E8C4AD493}"/>
              </a:ext>
            </a:extLst>
          </p:cNvPr>
          <p:cNvCxnSpPr>
            <a:cxnSpLocks/>
          </p:cNvCxnSpPr>
          <p:nvPr/>
        </p:nvCxnSpPr>
        <p:spPr>
          <a:xfrm>
            <a:off x="3606964" y="2834641"/>
            <a:ext cx="0" cy="40385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68BB7972-1EA4-C98A-2BB8-20E86F697E15}"/>
              </a:ext>
            </a:extLst>
          </p:cNvPr>
          <p:cNvCxnSpPr>
            <a:cxnSpLocks/>
          </p:cNvCxnSpPr>
          <p:nvPr/>
        </p:nvCxnSpPr>
        <p:spPr>
          <a:xfrm>
            <a:off x="4199386" y="2931161"/>
            <a:ext cx="0" cy="3047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A2A29DFF-2667-2AFE-1DA0-0D7D54BD6FBE}"/>
              </a:ext>
            </a:extLst>
          </p:cNvPr>
          <p:cNvCxnSpPr>
            <a:cxnSpLocks/>
          </p:cNvCxnSpPr>
          <p:nvPr/>
        </p:nvCxnSpPr>
        <p:spPr>
          <a:xfrm>
            <a:off x="4862022" y="2429180"/>
            <a:ext cx="11720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2F52BAF9-085E-0890-17A8-95FEC59F2167}"/>
              </a:ext>
            </a:extLst>
          </p:cNvPr>
          <p:cNvCxnSpPr>
            <a:cxnSpLocks/>
          </p:cNvCxnSpPr>
          <p:nvPr/>
        </p:nvCxnSpPr>
        <p:spPr>
          <a:xfrm>
            <a:off x="4862021" y="2425132"/>
            <a:ext cx="0" cy="808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9" name="文本框 218">
            <a:extLst>
              <a:ext uri="{FF2B5EF4-FFF2-40B4-BE49-F238E27FC236}">
                <a16:creationId xmlns:a16="http://schemas.microsoft.com/office/drawing/2014/main" id="{5A35AF74-60E5-8DDE-3219-75546B1D1D5C}"/>
              </a:ext>
            </a:extLst>
          </p:cNvPr>
          <p:cNvSpPr txBox="1"/>
          <p:nvPr/>
        </p:nvSpPr>
        <p:spPr>
          <a:xfrm>
            <a:off x="6535926" y="1655412"/>
            <a:ext cx="3533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op</a:t>
            </a: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914E89E2-468D-4ED7-1AB8-194484E8A170}"/>
              </a:ext>
            </a:extLst>
          </p:cNvPr>
          <p:cNvSpPr txBox="1"/>
          <p:nvPr/>
        </p:nvSpPr>
        <p:spPr>
          <a:xfrm>
            <a:off x="6563218" y="2994216"/>
            <a:ext cx="35338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we</a:t>
            </a:r>
          </a:p>
        </p:txBody>
      </p: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4F57A835-A427-1E8A-B079-30A81D9D4761}"/>
              </a:ext>
            </a:extLst>
          </p:cNvPr>
          <p:cNvCxnSpPr/>
          <p:nvPr/>
        </p:nvCxnSpPr>
        <p:spPr>
          <a:xfrm flipH="1" flipV="1">
            <a:off x="6679166" y="1820464"/>
            <a:ext cx="1745" cy="301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23CC8A98-662E-6901-FD9E-607291FC0211}"/>
              </a:ext>
            </a:extLst>
          </p:cNvPr>
          <p:cNvCxnSpPr>
            <a:cxnSpLocks/>
          </p:cNvCxnSpPr>
          <p:nvPr/>
        </p:nvCxnSpPr>
        <p:spPr>
          <a:xfrm>
            <a:off x="6195492" y="2121749"/>
            <a:ext cx="485997" cy="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C3544451-4192-D957-8987-2CB324CE7775}"/>
              </a:ext>
            </a:extLst>
          </p:cNvPr>
          <p:cNvCxnSpPr>
            <a:cxnSpLocks/>
          </p:cNvCxnSpPr>
          <p:nvPr/>
        </p:nvCxnSpPr>
        <p:spPr>
          <a:xfrm flipV="1">
            <a:off x="6683988" y="3115863"/>
            <a:ext cx="0" cy="573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8C239078-9765-67F2-2016-A2BD52207E59}"/>
              </a:ext>
            </a:extLst>
          </p:cNvPr>
          <p:cNvCxnSpPr>
            <a:cxnSpLocks/>
          </p:cNvCxnSpPr>
          <p:nvPr/>
        </p:nvCxnSpPr>
        <p:spPr>
          <a:xfrm>
            <a:off x="6198711" y="2118930"/>
            <a:ext cx="0" cy="14460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直接连接符 241">
            <a:extLst>
              <a:ext uri="{FF2B5EF4-FFF2-40B4-BE49-F238E27FC236}">
                <a16:creationId xmlns:a16="http://schemas.microsoft.com/office/drawing/2014/main" id="{A6C3E090-0209-8576-C1BD-DE5F0C6CF9BD}"/>
              </a:ext>
            </a:extLst>
          </p:cNvPr>
          <p:cNvCxnSpPr>
            <a:cxnSpLocks/>
          </p:cNvCxnSpPr>
          <p:nvPr/>
        </p:nvCxnSpPr>
        <p:spPr>
          <a:xfrm>
            <a:off x="5116011" y="3565333"/>
            <a:ext cx="10804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93457769-CF0E-86ED-7443-2BD6FA83C764}"/>
              </a:ext>
            </a:extLst>
          </p:cNvPr>
          <p:cNvCxnSpPr>
            <a:cxnSpLocks/>
          </p:cNvCxnSpPr>
          <p:nvPr/>
        </p:nvCxnSpPr>
        <p:spPr>
          <a:xfrm>
            <a:off x="5103213" y="3691690"/>
            <a:ext cx="158067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CD378461-F624-7700-3F5D-292589FD4F16}"/>
              </a:ext>
            </a:extLst>
          </p:cNvPr>
          <p:cNvCxnSpPr>
            <a:cxnSpLocks/>
          </p:cNvCxnSpPr>
          <p:nvPr/>
        </p:nvCxnSpPr>
        <p:spPr>
          <a:xfrm flipH="1">
            <a:off x="1849968" y="2944336"/>
            <a:ext cx="9161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直接连接符 275">
            <a:extLst>
              <a:ext uri="{FF2B5EF4-FFF2-40B4-BE49-F238E27FC236}">
                <a16:creationId xmlns:a16="http://schemas.microsoft.com/office/drawing/2014/main" id="{D09A3806-12D2-6AC3-94EF-875A3F052356}"/>
              </a:ext>
            </a:extLst>
          </p:cNvPr>
          <p:cNvCxnSpPr>
            <a:cxnSpLocks/>
          </p:cNvCxnSpPr>
          <p:nvPr/>
        </p:nvCxnSpPr>
        <p:spPr>
          <a:xfrm>
            <a:off x="1855928" y="2945167"/>
            <a:ext cx="0" cy="10595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1" name="直接连接符 280">
            <a:extLst>
              <a:ext uri="{FF2B5EF4-FFF2-40B4-BE49-F238E27FC236}">
                <a16:creationId xmlns:a16="http://schemas.microsoft.com/office/drawing/2014/main" id="{AA88634B-85BA-92C5-5DFE-46027E431299}"/>
              </a:ext>
            </a:extLst>
          </p:cNvPr>
          <p:cNvCxnSpPr>
            <a:cxnSpLocks/>
          </p:cNvCxnSpPr>
          <p:nvPr/>
        </p:nvCxnSpPr>
        <p:spPr>
          <a:xfrm flipH="1">
            <a:off x="1849968" y="4002668"/>
            <a:ext cx="23527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直接箭头连接符 282">
            <a:extLst>
              <a:ext uri="{FF2B5EF4-FFF2-40B4-BE49-F238E27FC236}">
                <a16:creationId xmlns:a16="http://schemas.microsoft.com/office/drawing/2014/main" id="{8045AEB0-25F8-7497-8A70-B756948002B6}"/>
              </a:ext>
            </a:extLst>
          </p:cNvPr>
          <p:cNvCxnSpPr>
            <a:cxnSpLocks/>
          </p:cNvCxnSpPr>
          <p:nvPr/>
        </p:nvCxnSpPr>
        <p:spPr>
          <a:xfrm flipV="1">
            <a:off x="2966452" y="3847362"/>
            <a:ext cx="0" cy="157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直接箭头连接符 286">
            <a:extLst>
              <a:ext uri="{FF2B5EF4-FFF2-40B4-BE49-F238E27FC236}">
                <a16:creationId xmlns:a16="http://schemas.microsoft.com/office/drawing/2014/main" id="{7D91370F-1192-E9DA-02CC-EBCE5C592C61}"/>
              </a:ext>
            </a:extLst>
          </p:cNvPr>
          <p:cNvCxnSpPr>
            <a:cxnSpLocks/>
          </p:cNvCxnSpPr>
          <p:nvPr/>
        </p:nvCxnSpPr>
        <p:spPr>
          <a:xfrm flipV="1">
            <a:off x="3606964" y="3847362"/>
            <a:ext cx="0" cy="157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CF7C44ED-2112-ED0A-8134-421246BB73F5}"/>
              </a:ext>
            </a:extLst>
          </p:cNvPr>
          <p:cNvCxnSpPr>
            <a:cxnSpLocks/>
          </p:cNvCxnSpPr>
          <p:nvPr/>
        </p:nvCxnSpPr>
        <p:spPr>
          <a:xfrm flipV="1">
            <a:off x="4201637" y="3847360"/>
            <a:ext cx="0" cy="157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文本框 290">
            <a:extLst>
              <a:ext uri="{FF2B5EF4-FFF2-40B4-BE49-F238E27FC236}">
                <a16:creationId xmlns:a16="http://schemas.microsoft.com/office/drawing/2014/main" id="{F59CCB2E-36BB-8E80-8F52-BA3574B7FFE9}"/>
              </a:ext>
            </a:extLst>
          </p:cNvPr>
          <p:cNvSpPr txBox="1"/>
          <p:nvPr/>
        </p:nvSpPr>
        <p:spPr>
          <a:xfrm>
            <a:off x="2637154" y="3873500"/>
            <a:ext cx="115180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 err="1"/>
              <a:t>inst</a:t>
            </a:r>
            <a:r>
              <a:rPr lang="en-US" altLang="zh-CN" sz="500" dirty="0"/>
              <a:t>[6:0]</a:t>
            </a:r>
            <a:endParaRPr lang="zh-CN" altLang="en-US" sz="500" dirty="0"/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8A904D69-F406-ACE0-AD87-1527C2DFE63B}"/>
              </a:ext>
            </a:extLst>
          </p:cNvPr>
          <p:cNvSpPr txBox="1"/>
          <p:nvPr/>
        </p:nvSpPr>
        <p:spPr>
          <a:xfrm>
            <a:off x="3216173" y="3877732"/>
            <a:ext cx="115180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 err="1"/>
              <a:t>inst</a:t>
            </a:r>
            <a:r>
              <a:rPr lang="en-US" altLang="zh-CN" sz="500" dirty="0"/>
              <a:t>[14:12]</a:t>
            </a:r>
            <a:endParaRPr lang="zh-CN" altLang="en-US" sz="500" dirty="0"/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EE6A7362-868B-8888-CAF1-21C79BD0F404}"/>
              </a:ext>
            </a:extLst>
          </p:cNvPr>
          <p:cNvSpPr txBox="1"/>
          <p:nvPr/>
        </p:nvSpPr>
        <p:spPr>
          <a:xfrm>
            <a:off x="3810723" y="3873500"/>
            <a:ext cx="115180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 err="1"/>
              <a:t>inst</a:t>
            </a:r>
            <a:r>
              <a:rPr lang="en-US" altLang="zh-CN" sz="500" dirty="0"/>
              <a:t>[31:25]</a:t>
            </a:r>
            <a:endParaRPr lang="zh-CN" altLang="en-US" sz="500" dirty="0"/>
          </a:p>
        </p:txBody>
      </p: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2E39723A-3E09-B676-7EE0-AF3474AE3860}"/>
              </a:ext>
            </a:extLst>
          </p:cNvPr>
          <p:cNvCxnSpPr/>
          <p:nvPr/>
        </p:nvCxnSpPr>
        <p:spPr>
          <a:xfrm flipH="1">
            <a:off x="1468966" y="3302001"/>
            <a:ext cx="177799" cy="118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7" name="直接连接符 296">
            <a:extLst>
              <a:ext uri="{FF2B5EF4-FFF2-40B4-BE49-F238E27FC236}">
                <a16:creationId xmlns:a16="http://schemas.microsoft.com/office/drawing/2014/main" id="{FA3604B9-1690-FB11-696F-EDD8FE93C8F7}"/>
              </a:ext>
            </a:extLst>
          </p:cNvPr>
          <p:cNvCxnSpPr/>
          <p:nvPr/>
        </p:nvCxnSpPr>
        <p:spPr>
          <a:xfrm flipH="1">
            <a:off x="1473200" y="3502289"/>
            <a:ext cx="177799" cy="118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BB07122A-99F5-F821-90ED-FDC65EFCCA95}"/>
              </a:ext>
            </a:extLst>
          </p:cNvPr>
          <p:cNvCxnSpPr/>
          <p:nvPr/>
        </p:nvCxnSpPr>
        <p:spPr>
          <a:xfrm flipH="1">
            <a:off x="2925561" y="2985509"/>
            <a:ext cx="177799" cy="118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9" name="直接连接符 298">
            <a:extLst>
              <a:ext uri="{FF2B5EF4-FFF2-40B4-BE49-F238E27FC236}">
                <a16:creationId xmlns:a16="http://schemas.microsoft.com/office/drawing/2014/main" id="{A108D718-F160-86FA-A453-79ADF49543AE}"/>
              </a:ext>
            </a:extLst>
          </p:cNvPr>
          <p:cNvCxnSpPr/>
          <p:nvPr/>
        </p:nvCxnSpPr>
        <p:spPr>
          <a:xfrm flipH="1">
            <a:off x="3510757" y="2978308"/>
            <a:ext cx="177799" cy="118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0" name="直接连接符 299">
            <a:extLst>
              <a:ext uri="{FF2B5EF4-FFF2-40B4-BE49-F238E27FC236}">
                <a16:creationId xmlns:a16="http://schemas.microsoft.com/office/drawing/2014/main" id="{A6727618-28E3-63A3-02E5-596FDF230FB6}"/>
              </a:ext>
            </a:extLst>
          </p:cNvPr>
          <p:cNvCxnSpPr/>
          <p:nvPr/>
        </p:nvCxnSpPr>
        <p:spPr>
          <a:xfrm flipH="1">
            <a:off x="4113850" y="2984346"/>
            <a:ext cx="177799" cy="118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1" name="直接连接符 300">
            <a:extLst>
              <a:ext uri="{FF2B5EF4-FFF2-40B4-BE49-F238E27FC236}">
                <a16:creationId xmlns:a16="http://schemas.microsoft.com/office/drawing/2014/main" id="{68C45314-E39B-9378-0ADA-AEED501DA9F7}"/>
              </a:ext>
            </a:extLst>
          </p:cNvPr>
          <p:cNvCxnSpPr/>
          <p:nvPr/>
        </p:nvCxnSpPr>
        <p:spPr>
          <a:xfrm flipH="1">
            <a:off x="4772052" y="2976032"/>
            <a:ext cx="177799" cy="118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2" name="直接连接符 301">
            <a:extLst>
              <a:ext uri="{FF2B5EF4-FFF2-40B4-BE49-F238E27FC236}">
                <a16:creationId xmlns:a16="http://schemas.microsoft.com/office/drawing/2014/main" id="{33931EA3-E881-84DD-7EDA-EDDD724BD046}"/>
              </a:ext>
            </a:extLst>
          </p:cNvPr>
          <p:cNvCxnSpPr/>
          <p:nvPr/>
        </p:nvCxnSpPr>
        <p:spPr>
          <a:xfrm flipH="1">
            <a:off x="5541448" y="3506524"/>
            <a:ext cx="177799" cy="118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3" name="直接连接符 302">
            <a:extLst>
              <a:ext uri="{FF2B5EF4-FFF2-40B4-BE49-F238E27FC236}">
                <a16:creationId xmlns:a16="http://schemas.microsoft.com/office/drawing/2014/main" id="{BEEE1D2A-FC0F-43B8-4AC9-FB7F0ABC6F30}"/>
              </a:ext>
            </a:extLst>
          </p:cNvPr>
          <p:cNvCxnSpPr/>
          <p:nvPr/>
        </p:nvCxnSpPr>
        <p:spPr>
          <a:xfrm flipH="1">
            <a:off x="5873153" y="3636433"/>
            <a:ext cx="177799" cy="1185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4" name="文本框 303">
            <a:extLst>
              <a:ext uri="{FF2B5EF4-FFF2-40B4-BE49-F238E27FC236}">
                <a16:creationId xmlns:a16="http://schemas.microsoft.com/office/drawing/2014/main" id="{C51C0E1C-57AA-AD52-CD90-CF060E93EAEA}"/>
              </a:ext>
            </a:extLst>
          </p:cNvPr>
          <p:cNvSpPr txBox="1"/>
          <p:nvPr/>
        </p:nvSpPr>
        <p:spPr>
          <a:xfrm>
            <a:off x="1367367" y="3208867"/>
            <a:ext cx="4233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/>
              <a:t>1bit</a:t>
            </a:r>
            <a:endParaRPr lang="zh-CN" altLang="en-US" sz="500" dirty="0"/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32FF516A-F2EC-E8E8-32A0-E7B717B5F8AC}"/>
              </a:ext>
            </a:extLst>
          </p:cNvPr>
          <p:cNvSpPr txBox="1"/>
          <p:nvPr/>
        </p:nvSpPr>
        <p:spPr>
          <a:xfrm>
            <a:off x="3977739" y="2941086"/>
            <a:ext cx="4233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/>
              <a:t>1bit</a:t>
            </a:r>
            <a:endParaRPr lang="zh-CN" altLang="en-US" sz="500" dirty="0"/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77683D7A-6970-FA43-E464-08EEA9C7203A}"/>
              </a:ext>
            </a:extLst>
          </p:cNvPr>
          <p:cNvSpPr txBox="1"/>
          <p:nvPr/>
        </p:nvSpPr>
        <p:spPr>
          <a:xfrm>
            <a:off x="4639691" y="2929467"/>
            <a:ext cx="4233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/>
              <a:t>1bit</a:t>
            </a:r>
            <a:endParaRPr lang="zh-CN" altLang="en-US" sz="500" dirty="0"/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26721289-C4B1-8369-86E8-74CA41DDE13D}"/>
              </a:ext>
            </a:extLst>
          </p:cNvPr>
          <p:cNvSpPr txBox="1"/>
          <p:nvPr/>
        </p:nvSpPr>
        <p:spPr>
          <a:xfrm>
            <a:off x="5759111" y="3568701"/>
            <a:ext cx="4233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/>
              <a:t>1bit</a:t>
            </a:r>
            <a:endParaRPr lang="zh-CN" altLang="en-US" sz="500" dirty="0"/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4D6D4DF7-5EE8-C4B3-BA40-409A4D6F42D6}"/>
              </a:ext>
            </a:extLst>
          </p:cNvPr>
          <p:cNvSpPr txBox="1"/>
          <p:nvPr/>
        </p:nvSpPr>
        <p:spPr>
          <a:xfrm>
            <a:off x="1353633" y="3430380"/>
            <a:ext cx="6318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/>
              <a:t>2bits</a:t>
            </a:r>
            <a:endParaRPr lang="zh-CN" altLang="en-US" sz="500" dirty="0"/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EEAAB942-7FFB-32F2-5CA4-0F8E57078692}"/>
              </a:ext>
            </a:extLst>
          </p:cNvPr>
          <p:cNvSpPr txBox="1"/>
          <p:nvPr/>
        </p:nvSpPr>
        <p:spPr>
          <a:xfrm>
            <a:off x="3355509" y="2932593"/>
            <a:ext cx="6318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/>
              <a:t>2bits</a:t>
            </a:r>
            <a:endParaRPr lang="zh-CN" altLang="en-US" sz="500" dirty="0"/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93681490-03E6-089E-6662-6BF1E7E13727}"/>
              </a:ext>
            </a:extLst>
          </p:cNvPr>
          <p:cNvSpPr txBox="1"/>
          <p:nvPr/>
        </p:nvSpPr>
        <p:spPr>
          <a:xfrm>
            <a:off x="2772868" y="2938973"/>
            <a:ext cx="6318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/>
              <a:t>3bits</a:t>
            </a:r>
            <a:endParaRPr lang="zh-CN" altLang="en-US" sz="500" dirty="0"/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7F1FBC18-3E0A-412C-CDF9-B6008CB7FECC}"/>
              </a:ext>
            </a:extLst>
          </p:cNvPr>
          <p:cNvSpPr txBox="1"/>
          <p:nvPr/>
        </p:nvSpPr>
        <p:spPr>
          <a:xfrm>
            <a:off x="5397450" y="3430380"/>
            <a:ext cx="6318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/>
              <a:t>4bits</a:t>
            </a:r>
            <a:endParaRPr lang="zh-CN" altLang="en-US" sz="500" dirty="0"/>
          </a:p>
        </p:txBody>
      </p:sp>
      <p:sp>
        <p:nvSpPr>
          <p:cNvPr id="315" name="椭圆 314">
            <a:extLst>
              <a:ext uri="{FF2B5EF4-FFF2-40B4-BE49-F238E27FC236}">
                <a16:creationId xmlns:a16="http://schemas.microsoft.com/office/drawing/2014/main" id="{CE4E3065-9B6C-E68E-BC14-038493361BAE}"/>
              </a:ext>
            </a:extLst>
          </p:cNvPr>
          <p:cNvSpPr/>
          <p:nvPr/>
        </p:nvSpPr>
        <p:spPr>
          <a:xfrm flipH="1" flipV="1">
            <a:off x="3262804" y="70019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6" name="椭圆 315">
            <a:extLst>
              <a:ext uri="{FF2B5EF4-FFF2-40B4-BE49-F238E27FC236}">
                <a16:creationId xmlns:a16="http://schemas.microsoft.com/office/drawing/2014/main" id="{7F773C49-0C90-D7CE-9BD9-7E8FCC00F2B7}"/>
              </a:ext>
            </a:extLst>
          </p:cNvPr>
          <p:cNvSpPr/>
          <p:nvPr/>
        </p:nvSpPr>
        <p:spPr>
          <a:xfrm flipH="1" flipV="1">
            <a:off x="1859417" y="2127757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椭圆 316">
            <a:extLst>
              <a:ext uri="{FF2B5EF4-FFF2-40B4-BE49-F238E27FC236}">
                <a16:creationId xmlns:a16="http://schemas.microsoft.com/office/drawing/2014/main" id="{37201B1B-74B2-B9B2-DE8B-C8860DDBDBE5}"/>
              </a:ext>
            </a:extLst>
          </p:cNvPr>
          <p:cNvSpPr/>
          <p:nvPr/>
        </p:nvSpPr>
        <p:spPr>
          <a:xfrm flipH="1" flipV="1">
            <a:off x="2742401" y="2503773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0BBC5C20-63A0-9584-1A82-67E128F5D300}"/>
              </a:ext>
            </a:extLst>
          </p:cNvPr>
          <p:cNvSpPr/>
          <p:nvPr/>
        </p:nvSpPr>
        <p:spPr>
          <a:xfrm flipH="1" flipV="1">
            <a:off x="2998400" y="2507700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椭圆 318">
            <a:extLst>
              <a:ext uri="{FF2B5EF4-FFF2-40B4-BE49-F238E27FC236}">
                <a16:creationId xmlns:a16="http://schemas.microsoft.com/office/drawing/2014/main" id="{AA8AE147-108F-31ED-CAA1-68637F1B108C}"/>
              </a:ext>
            </a:extLst>
          </p:cNvPr>
          <p:cNvSpPr/>
          <p:nvPr/>
        </p:nvSpPr>
        <p:spPr>
          <a:xfrm flipH="1" flipV="1">
            <a:off x="7135858" y="1655610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02F2B538-9C49-9EAA-D4CD-1349A1502716}"/>
              </a:ext>
            </a:extLst>
          </p:cNvPr>
          <p:cNvSpPr/>
          <p:nvPr/>
        </p:nvSpPr>
        <p:spPr>
          <a:xfrm flipH="1" flipV="1">
            <a:off x="5281975" y="1701007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椭圆 320">
            <a:extLst>
              <a:ext uri="{FF2B5EF4-FFF2-40B4-BE49-F238E27FC236}">
                <a16:creationId xmlns:a16="http://schemas.microsoft.com/office/drawing/2014/main" id="{FB48AEF2-EC83-3693-4A23-D08541BD9B38}"/>
              </a:ext>
            </a:extLst>
          </p:cNvPr>
          <p:cNvSpPr/>
          <p:nvPr/>
        </p:nvSpPr>
        <p:spPr>
          <a:xfrm flipH="1" flipV="1">
            <a:off x="4118280" y="2259618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685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47083-5899-1324-86F9-718F8FF0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21E4E3-8D54-C682-3179-AF57CB5B5E81}"/>
              </a:ext>
            </a:extLst>
          </p:cNvPr>
          <p:cNvSpPr/>
          <p:nvPr/>
        </p:nvSpPr>
        <p:spPr>
          <a:xfrm>
            <a:off x="655135" y="1888070"/>
            <a:ext cx="501113" cy="580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63" dirty="0"/>
          </a:p>
        </p:txBody>
      </p:sp>
      <p:sp>
        <p:nvSpPr>
          <p:cNvPr id="31" name="流程图: 手动操作 30">
            <a:extLst>
              <a:ext uri="{FF2B5EF4-FFF2-40B4-BE49-F238E27FC236}">
                <a16:creationId xmlns:a16="http://schemas.microsoft.com/office/drawing/2014/main" id="{D18B39F1-2060-CAAB-D74F-605773147554}"/>
              </a:ext>
            </a:extLst>
          </p:cNvPr>
          <p:cNvSpPr/>
          <p:nvPr/>
        </p:nvSpPr>
        <p:spPr>
          <a:xfrm rot="16200000">
            <a:off x="5685469" y="1697594"/>
            <a:ext cx="687563" cy="309982"/>
          </a:xfrm>
          <a:prstGeom prst="flowChartManualOpe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7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DF8EC2E-2EED-91BC-B787-B7B793848BEC}"/>
              </a:ext>
            </a:extLst>
          </p:cNvPr>
          <p:cNvSpPr txBox="1"/>
          <p:nvPr/>
        </p:nvSpPr>
        <p:spPr>
          <a:xfrm>
            <a:off x="5837959" y="1673161"/>
            <a:ext cx="462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MUX</a:t>
            </a:r>
          </a:p>
          <a:p>
            <a:r>
              <a:rPr lang="en-US" altLang="zh-CN" sz="700" dirty="0"/>
              <a:t> 2_1</a:t>
            </a:r>
            <a:endParaRPr lang="zh-CN" altLang="en-US" sz="7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303BBF0-2D6B-2B55-BD8A-E3A7FA0A522D}"/>
              </a:ext>
            </a:extLst>
          </p:cNvPr>
          <p:cNvSpPr txBox="1"/>
          <p:nvPr/>
        </p:nvSpPr>
        <p:spPr>
          <a:xfrm>
            <a:off x="5874258" y="1947059"/>
            <a:ext cx="3533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 err="1"/>
              <a:t>sel</a:t>
            </a:r>
            <a:endParaRPr lang="en-US" altLang="zh-CN" sz="700" dirty="0"/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622C4DC8-BE1A-4576-B35F-F888AC3F0A48}"/>
              </a:ext>
            </a:extLst>
          </p:cNvPr>
          <p:cNvCxnSpPr>
            <a:endCxn id="31" idx="1"/>
          </p:cNvCxnSpPr>
          <p:nvPr/>
        </p:nvCxnSpPr>
        <p:spPr>
          <a:xfrm flipH="1" flipV="1">
            <a:off x="6029251" y="2127612"/>
            <a:ext cx="1745" cy="3015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9CC8C69-FBD7-41B7-71CE-4CA537B2BA90}"/>
              </a:ext>
            </a:extLst>
          </p:cNvPr>
          <p:cNvCxnSpPr/>
          <p:nvPr/>
        </p:nvCxnSpPr>
        <p:spPr>
          <a:xfrm>
            <a:off x="5428765" y="1972733"/>
            <a:ext cx="4454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6A29F9B1-93D3-34D1-6184-4B25C0E84433}"/>
              </a:ext>
            </a:extLst>
          </p:cNvPr>
          <p:cNvCxnSpPr/>
          <p:nvPr/>
        </p:nvCxnSpPr>
        <p:spPr>
          <a:xfrm>
            <a:off x="5424611" y="1724449"/>
            <a:ext cx="4496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3CD497BE-22A5-8F48-A6AA-D771317C2731}"/>
              </a:ext>
            </a:extLst>
          </p:cNvPr>
          <p:cNvSpPr txBox="1"/>
          <p:nvPr/>
        </p:nvSpPr>
        <p:spPr>
          <a:xfrm>
            <a:off x="5360339" y="1601511"/>
            <a:ext cx="56485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RF_rD2 32bits</a:t>
            </a:r>
            <a:endParaRPr lang="zh-CN" altLang="en-US" sz="4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151CC51-F3B4-81CF-4AEF-ADFB023505A9}"/>
              </a:ext>
            </a:extLst>
          </p:cNvPr>
          <p:cNvSpPr txBox="1"/>
          <p:nvPr/>
        </p:nvSpPr>
        <p:spPr>
          <a:xfrm>
            <a:off x="5357052" y="1848599"/>
            <a:ext cx="56485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SEXT_ext</a:t>
            </a:r>
            <a:r>
              <a:rPr lang="en-US" altLang="zh-CN" sz="400" dirty="0"/>
              <a:t> 32bits</a:t>
            </a:r>
            <a:endParaRPr lang="zh-CN" altLang="en-US" sz="400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FC01865-2B6C-0E40-B01B-60AC511D2EB0}"/>
              </a:ext>
            </a:extLst>
          </p:cNvPr>
          <p:cNvCxnSpPr/>
          <p:nvPr/>
        </p:nvCxnSpPr>
        <p:spPr>
          <a:xfrm>
            <a:off x="6504731" y="1201156"/>
            <a:ext cx="0" cy="275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067B0DDC-869C-ABB5-D4A4-AC08560D3E1B}"/>
              </a:ext>
            </a:extLst>
          </p:cNvPr>
          <p:cNvCxnSpPr/>
          <p:nvPr/>
        </p:nvCxnSpPr>
        <p:spPr>
          <a:xfrm>
            <a:off x="6504731" y="1594211"/>
            <a:ext cx="0" cy="2789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81272A8-BA79-36B5-4CC3-E3DD111A4EAE}"/>
              </a:ext>
            </a:extLst>
          </p:cNvPr>
          <p:cNvCxnSpPr/>
          <p:nvPr/>
        </p:nvCxnSpPr>
        <p:spPr>
          <a:xfrm>
            <a:off x="6821162" y="1314872"/>
            <a:ext cx="0" cy="4494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BD393E95-35E9-ACB2-A08D-B14C53F19031}"/>
              </a:ext>
            </a:extLst>
          </p:cNvPr>
          <p:cNvCxnSpPr/>
          <p:nvPr/>
        </p:nvCxnSpPr>
        <p:spPr>
          <a:xfrm>
            <a:off x="6504732" y="1201157"/>
            <a:ext cx="316431" cy="113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76F1269E-04EE-EBB6-384E-C500E23AD8D2}"/>
              </a:ext>
            </a:extLst>
          </p:cNvPr>
          <p:cNvCxnSpPr>
            <a:cxnSpLocks/>
          </p:cNvCxnSpPr>
          <p:nvPr/>
        </p:nvCxnSpPr>
        <p:spPr>
          <a:xfrm flipV="1">
            <a:off x="6504732" y="1764280"/>
            <a:ext cx="316431" cy="1088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53D7E6E-D8B3-E88D-E26A-8932FF0C8A68}"/>
              </a:ext>
            </a:extLst>
          </p:cNvPr>
          <p:cNvCxnSpPr/>
          <p:nvPr/>
        </p:nvCxnSpPr>
        <p:spPr>
          <a:xfrm>
            <a:off x="6504731" y="1476990"/>
            <a:ext cx="89556" cy="47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8706A61-C580-3C4C-8520-BE992FA462CA}"/>
              </a:ext>
            </a:extLst>
          </p:cNvPr>
          <p:cNvCxnSpPr>
            <a:cxnSpLocks/>
          </p:cNvCxnSpPr>
          <p:nvPr/>
        </p:nvCxnSpPr>
        <p:spPr>
          <a:xfrm flipV="1">
            <a:off x="6504731" y="1524652"/>
            <a:ext cx="89556" cy="695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F7629892-1D86-3047-3D9B-133057EFF0A4}"/>
              </a:ext>
            </a:extLst>
          </p:cNvPr>
          <p:cNvSpPr txBox="1"/>
          <p:nvPr/>
        </p:nvSpPr>
        <p:spPr>
          <a:xfrm>
            <a:off x="6517498" y="1206660"/>
            <a:ext cx="4571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A</a:t>
            </a:r>
          </a:p>
          <a:p>
            <a:endParaRPr lang="en-US" altLang="zh-CN" sz="700" dirty="0"/>
          </a:p>
          <a:p>
            <a:endParaRPr lang="en-US" altLang="zh-CN" sz="700" dirty="0"/>
          </a:p>
          <a:p>
            <a:endParaRPr lang="en-US" altLang="zh-CN" sz="700" dirty="0"/>
          </a:p>
          <a:p>
            <a:r>
              <a:rPr lang="en-US" altLang="zh-CN" sz="700" dirty="0"/>
              <a:t>B</a:t>
            </a:r>
            <a:endParaRPr lang="zh-CN" altLang="en-US" sz="7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7CD20B7-A8E1-0ECB-DD8F-8C7EF04D4B35}"/>
              </a:ext>
            </a:extLst>
          </p:cNvPr>
          <p:cNvSpPr txBox="1"/>
          <p:nvPr/>
        </p:nvSpPr>
        <p:spPr>
          <a:xfrm>
            <a:off x="6704457" y="1364201"/>
            <a:ext cx="10854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f</a:t>
            </a:r>
          </a:p>
          <a:p>
            <a:endParaRPr lang="en-US" altLang="zh-CN" sz="700" dirty="0"/>
          </a:p>
          <a:p>
            <a:r>
              <a:rPr lang="en-US" altLang="zh-CN" sz="700" dirty="0"/>
              <a:t>C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CDA6AEA7-EAD6-7144-7B88-A0E054B6FFE7}"/>
              </a:ext>
            </a:extLst>
          </p:cNvPr>
          <p:cNvCxnSpPr/>
          <p:nvPr/>
        </p:nvCxnSpPr>
        <p:spPr>
          <a:xfrm>
            <a:off x="6184242" y="1722300"/>
            <a:ext cx="3145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6EE4C99-7F35-C173-A374-DC49554AF7F9}"/>
              </a:ext>
            </a:extLst>
          </p:cNvPr>
          <p:cNvCxnSpPr/>
          <p:nvPr/>
        </p:nvCxnSpPr>
        <p:spPr>
          <a:xfrm>
            <a:off x="5439808" y="1320621"/>
            <a:ext cx="1061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90CAC4C6-CF73-3B57-54FC-8E8D84FF468E}"/>
              </a:ext>
            </a:extLst>
          </p:cNvPr>
          <p:cNvSpPr txBox="1"/>
          <p:nvPr/>
        </p:nvSpPr>
        <p:spPr>
          <a:xfrm>
            <a:off x="5436823" y="1206319"/>
            <a:ext cx="56485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RF_Rd1 32bits</a:t>
            </a:r>
            <a:endParaRPr lang="zh-CN" altLang="en-US" sz="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92846D3-4A2D-A630-2946-ECBB07266731}"/>
              </a:ext>
            </a:extLst>
          </p:cNvPr>
          <p:cNvSpPr txBox="1"/>
          <p:nvPr/>
        </p:nvSpPr>
        <p:spPr>
          <a:xfrm>
            <a:off x="6498762" y="1100549"/>
            <a:ext cx="45309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ALU</a:t>
            </a:r>
            <a:endParaRPr lang="zh-CN" altLang="en-US" sz="7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AF19D02-E528-B86A-A5CF-041116E4C1EF}"/>
              </a:ext>
            </a:extLst>
          </p:cNvPr>
          <p:cNvSpPr txBox="1"/>
          <p:nvPr/>
        </p:nvSpPr>
        <p:spPr>
          <a:xfrm>
            <a:off x="6749631" y="1342600"/>
            <a:ext cx="4530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NPC_br</a:t>
            </a:r>
            <a:r>
              <a:rPr lang="en-US" altLang="zh-CN" sz="400" dirty="0"/>
              <a:t> 2bits</a:t>
            </a:r>
          </a:p>
          <a:p>
            <a:endParaRPr lang="zh-CN" altLang="en-US" sz="4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621DC88-678E-CE82-BEE9-B21C7FB6BE43}"/>
              </a:ext>
            </a:extLst>
          </p:cNvPr>
          <p:cNvSpPr txBox="1"/>
          <p:nvPr/>
        </p:nvSpPr>
        <p:spPr>
          <a:xfrm>
            <a:off x="6814200" y="1546787"/>
            <a:ext cx="221061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32bits</a:t>
            </a:r>
            <a:endParaRPr lang="zh-CN" altLang="en-US" sz="400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7E7AEFD-BD7F-801B-FE76-8340BBD7894F}"/>
              </a:ext>
            </a:extLst>
          </p:cNvPr>
          <p:cNvSpPr/>
          <p:nvPr/>
        </p:nvSpPr>
        <p:spPr>
          <a:xfrm>
            <a:off x="3302144" y="2142455"/>
            <a:ext cx="762374" cy="2867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SEXT</a:t>
            </a:r>
            <a:endParaRPr lang="zh-CN" altLang="en-US" sz="7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F0DAE04-BEAC-476F-2EB3-3DB2150CB4A9}"/>
              </a:ext>
            </a:extLst>
          </p:cNvPr>
          <p:cNvSpPr txBox="1"/>
          <p:nvPr/>
        </p:nvSpPr>
        <p:spPr>
          <a:xfrm>
            <a:off x="3245341" y="2225692"/>
            <a:ext cx="34431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din</a:t>
            </a:r>
            <a:endParaRPr lang="zh-CN" altLang="en-US" sz="4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32E39E4-B989-D42D-FBC7-221E3D59A78B}"/>
              </a:ext>
            </a:extLst>
          </p:cNvPr>
          <p:cNvSpPr txBox="1"/>
          <p:nvPr/>
        </p:nvSpPr>
        <p:spPr>
          <a:xfrm>
            <a:off x="3867402" y="2214659"/>
            <a:ext cx="3042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ext</a:t>
            </a:r>
            <a:endParaRPr lang="zh-CN" altLang="en-US" sz="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D49BA0B-B1E2-9177-45A6-E989C642C7AB}"/>
              </a:ext>
            </a:extLst>
          </p:cNvPr>
          <p:cNvSpPr txBox="1"/>
          <p:nvPr/>
        </p:nvSpPr>
        <p:spPr>
          <a:xfrm>
            <a:off x="3569716" y="2301719"/>
            <a:ext cx="3042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op</a:t>
            </a:r>
            <a:endParaRPr lang="zh-CN" altLang="en-US" sz="400" dirty="0"/>
          </a:p>
        </p:txBody>
      </p:sp>
      <p:sp>
        <p:nvSpPr>
          <p:cNvPr id="62" name="流程图: 手动操作 61">
            <a:extLst>
              <a:ext uri="{FF2B5EF4-FFF2-40B4-BE49-F238E27FC236}">
                <a16:creationId xmlns:a16="http://schemas.microsoft.com/office/drawing/2014/main" id="{C1258AE1-A704-3A96-080D-1EE385DA6A76}"/>
              </a:ext>
            </a:extLst>
          </p:cNvPr>
          <p:cNvSpPr/>
          <p:nvPr/>
        </p:nvSpPr>
        <p:spPr>
          <a:xfrm rot="16200000">
            <a:off x="3360391" y="1484689"/>
            <a:ext cx="645879" cy="368141"/>
          </a:xfrm>
          <a:prstGeom prst="flowChartManualOpe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700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1128639-CC53-E23D-67E3-8DBF71246483}"/>
              </a:ext>
            </a:extLst>
          </p:cNvPr>
          <p:cNvSpPr/>
          <p:nvPr/>
        </p:nvSpPr>
        <p:spPr>
          <a:xfrm>
            <a:off x="4565796" y="1348448"/>
            <a:ext cx="653464" cy="6710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700" dirty="0"/>
              <a:t>RF</a:t>
            </a:r>
            <a:endParaRPr lang="zh-CN" altLang="en-US" sz="700" dirty="0"/>
          </a:p>
        </p:txBody>
      </p:sp>
      <p:sp>
        <p:nvSpPr>
          <p:cNvPr id="64" name="等腰三角形 63">
            <a:extLst>
              <a:ext uri="{FF2B5EF4-FFF2-40B4-BE49-F238E27FC236}">
                <a16:creationId xmlns:a16="http://schemas.microsoft.com/office/drawing/2014/main" id="{5D4D586D-E01A-2B67-C8A4-98320755AE1F}"/>
              </a:ext>
            </a:extLst>
          </p:cNvPr>
          <p:cNvSpPr/>
          <p:nvPr/>
        </p:nvSpPr>
        <p:spPr>
          <a:xfrm>
            <a:off x="4821656" y="1917106"/>
            <a:ext cx="149752" cy="10050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70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653CD68-E704-CC30-D6FC-FDD394EE00CB}"/>
              </a:ext>
            </a:extLst>
          </p:cNvPr>
          <p:cNvSpPr txBox="1"/>
          <p:nvPr/>
        </p:nvSpPr>
        <p:spPr>
          <a:xfrm>
            <a:off x="4783420" y="1790453"/>
            <a:ext cx="29804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clk</a:t>
            </a:r>
            <a:endParaRPr lang="zh-CN" altLang="en-US" sz="4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D89AAA4-9AF4-63F0-66DD-DE96126EC44F}"/>
              </a:ext>
            </a:extLst>
          </p:cNvPr>
          <p:cNvSpPr txBox="1"/>
          <p:nvPr/>
        </p:nvSpPr>
        <p:spPr>
          <a:xfrm>
            <a:off x="4561607" y="1866304"/>
            <a:ext cx="30041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we</a:t>
            </a:r>
            <a:endParaRPr lang="zh-CN" altLang="en-US" sz="4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0711A9EC-166B-84B9-8A18-25509500C00C}"/>
              </a:ext>
            </a:extLst>
          </p:cNvPr>
          <p:cNvSpPr txBox="1"/>
          <p:nvPr/>
        </p:nvSpPr>
        <p:spPr>
          <a:xfrm>
            <a:off x="4557764" y="1723165"/>
            <a:ext cx="28511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wR</a:t>
            </a:r>
            <a:endParaRPr lang="zh-CN" altLang="en-US" sz="4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9F08F3A-54A9-2068-C297-5AF066277311}"/>
              </a:ext>
            </a:extLst>
          </p:cNvPr>
          <p:cNvSpPr txBox="1"/>
          <p:nvPr/>
        </p:nvSpPr>
        <p:spPr>
          <a:xfrm>
            <a:off x="4550945" y="1558561"/>
            <a:ext cx="30041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rR2</a:t>
            </a:r>
            <a:endParaRPr lang="zh-CN" altLang="en-US" sz="4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C1622F8B-2D9E-C559-54B4-B9B12DDDF189}"/>
              </a:ext>
            </a:extLst>
          </p:cNvPr>
          <p:cNvSpPr txBox="1"/>
          <p:nvPr/>
        </p:nvSpPr>
        <p:spPr>
          <a:xfrm>
            <a:off x="4555496" y="1387115"/>
            <a:ext cx="30041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rR1</a:t>
            </a:r>
            <a:endParaRPr lang="zh-CN" altLang="en-US" sz="4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75B3C02-6F25-0F79-6148-C70B239CA1DF}"/>
              </a:ext>
            </a:extLst>
          </p:cNvPr>
          <p:cNvSpPr txBox="1"/>
          <p:nvPr/>
        </p:nvSpPr>
        <p:spPr>
          <a:xfrm>
            <a:off x="4772053" y="1348270"/>
            <a:ext cx="32537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wd</a:t>
            </a:r>
            <a:endParaRPr lang="zh-CN" altLang="en-US" sz="4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9D7CC4D9-5F4A-DF6F-C002-CB02934F5537}"/>
              </a:ext>
            </a:extLst>
          </p:cNvPr>
          <p:cNvSpPr txBox="1"/>
          <p:nvPr/>
        </p:nvSpPr>
        <p:spPr>
          <a:xfrm>
            <a:off x="5032071" y="1500323"/>
            <a:ext cx="28510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rD1</a:t>
            </a:r>
            <a:endParaRPr lang="zh-CN" altLang="en-US" sz="4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C9F6517-3F7D-A82E-A6B2-3C0D321B98A0}"/>
              </a:ext>
            </a:extLst>
          </p:cNvPr>
          <p:cNvSpPr txBox="1"/>
          <p:nvPr/>
        </p:nvSpPr>
        <p:spPr>
          <a:xfrm>
            <a:off x="5035472" y="1678777"/>
            <a:ext cx="27058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rD2</a:t>
            </a:r>
            <a:endParaRPr lang="zh-CN" altLang="en-US" sz="4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C9FE9BCE-A261-E291-F78C-CB57389C1AAE}"/>
              </a:ext>
            </a:extLst>
          </p:cNvPr>
          <p:cNvSpPr txBox="1"/>
          <p:nvPr/>
        </p:nvSpPr>
        <p:spPr>
          <a:xfrm>
            <a:off x="3505103" y="1522410"/>
            <a:ext cx="452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MUX</a:t>
            </a:r>
          </a:p>
          <a:p>
            <a:r>
              <a:rPr lang="en-US" altLang="zh-CN" sz="700" dirty="0"/>
              <a:t> 4_1</a:t>
            </a:r>
            <a:endParaRPr lang="zh-CN" altLang="en-US" sz="7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DB18A0C-4BB6-5C09-6CCC-F7E662068FE4}"/>
              </a:ext>
            </a:extLst>
          </p:cNvPr>
          <p:cNvSpPr txBox="1"/>
          <p:nvPr/>
        </p:nvSpPr>
        <p:spPr>
          <a:xfrm>
            <a:off x="3484936" y="1401588"/>
            <a:ext cx="122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0</a:t>
            </a:r>
          </a:p>
          <a:p>
            <a:endParaRPr lang="en-US" altLang="zh-CN" sz="400" dirty="0"/>
          </a:p>
          <a:p>
            <a:r>
              <a:rPr lang="en-US" altLang="zh-CN" sz="400" dirty="0"/>
              <a:t>1</a:t>
            </a:r>
          </a:p>
          <a:p>
            <a:endParaRPr lang="en-US" altLang="zh-CN" sz="400" dirty="0"/>
          </a:p>
          <a:p>
            <a:r>
              <a:rPr lang="en-US" altLang="zh-CN" sz="400" dirty="0"/>
              <a:t>2</a:t>
            </a:r>
          </a:p>
          <a:p>
            <a:endParaRPr lang="en-US" altLang="zh-CN" sz="400" dirty="0"/>
          </a:p>
          <a:p>
            <a:r>
              <a:rPr lang="en-US" altLang="zh-CN" sz="400" dirty="0"/>
              <a:t>3</a:t>
            </a:r>
            <a:endParaRPr lang="zh-CN" altLang="en-US" sz="400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55F66129-DE81-7AFD-616E-313EB269D097}"/>
              </a:ext>
            </a:extLst>
          </p:cNvPr>
          <p:cNvCxnSpPr>
            <a:cxnSpLocks/>
          </p:cNvCxnSpPr>
          <p:nvPr/>
        </p:nvCxnSpPr>
        <p:spPr>
          <a:xfrm>
            <a:off x="3286684" y="1493550"/>
            <a:ext cx="206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7B32B462-97F9-965F-336D-6E8B17B6B4BD}"/>
              </a:ext>
            </a:extLst>
          </p:cNvPr>
          <p:cNvCxnSpPr/>
          <p:nvPr/>
        </p:nvCxnSpPr>
        <p:spPr>
          <a:xfrm flipV="1">
            <a:off x="3286684" y="1290969"/>
            <a:ext cx="0" cy="2043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96D36DF2-CDDE-86E0-7561-CC6497185AD2}"/>
              </a:ext>
            </a:extLst>
          </p:cNvPr>
          <p:cNvCxnSpPr/>
          <p:nvPr/>
        </p:nvCxnSpPr>
        <p:spPr>
          <a:xfrm>
            <a:off x="3237003" y="1600815"/>
            <a:ext cx="255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BAE0EB09-5951-619B-3E5E-E8B0242AAC27}"/>
              </a:ext>
            </a:extLst>
          </p:cNvPr>
          <p:cNvCxnSpPr/>
          <p:nvPr/>
        </p:nvCxnSpPr>
        <p:spPr>
          <a:xfrm>
            <a:off x="3180326" y="1720922"/>
            <a:ext cx="3124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A9224FE2-BF74-795F-36B8-0BFCAEA3AF76}"/>
              </a:ext>
            </a:extLst>
          </p:cNvPr>
          <p:cNvCxnSpPr>
            <a:cxnSpLocks/>
          </p:cNvCxnSpPr>
          <p:nvPr/>
        </p:nvCxnSpPr>
        <p:spPr>
          <a:xfrm>
            <a:off x="3344998" y="1834501"/>
            <a:ext cx="148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98C43C90-075B-02DB-530D-01F30FCD8508}"/>
              </a:ext>
            </a:extLst>
          </p:cNvPr>
          <p:cNvSpPr txBox="1"/>
          <p:nvPr/>
        </p:nvSpPr>
        <p:spPr>
          <a:xfrm>
            <a:off x="3213436" y="1363199"/>
            <a:ext cx="513922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ALU.C</a:t>
            </a:r>
            <a:endParaRPr lang="zh-CN" altLang="en-US" sz="400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6BB1400-F599-91EF-0601-2F7B2CEF9521}"/>
              </a:ext>
            </a:extLst>
          </p:cNvPr>
          <p:cNvSpPr txBox="1"/>
          <p:nvPr/>
        </p:nvSpPr>
        <p:spPr>
          <a:xfrm>
            <a:off x="2834071" y="1491716"/>
            <a:ext cx="4701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DRAM.rd</a:t>
            </a:r>
            <a:endParaRPr lang="en-US" altLang="zh-CN" sz="400" dirty="0"/>
          </a:p>
          <a:p>
            <a:endParaRPr lang="zh-CN" altLang="en-US" sz="4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A30F931-973E-1D45-36BA-461A35B64AB0}"/>
              </a:ext>
            </a:extLst>
          </p:cNvPr>
          <p:cNvSpPr txBox="1"/>
          <p:nvPr/>
        </p:nvSpPr>
        <p:spPr>
          <a:xfrm>
            <a:off x="3114572" y="1599331"/>
            <a:ext cx="3751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NPC.pc4</a:t>
            </a:r>
          </a:p>
          <a:p>
            <a:endParaRPr lang="zh-CN" altLang="en-US" sz="400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FD55DD13-9B4A-94E9-A0D5-CB0566E969AB}"/>
              </a:ext>
            </a:extLst>
          </p:cNvPr>
          <p:cNvSpPr txBox="1"/>
          <p:nvPr/>
        </p:nvSpPr>
        <p:spPr>
          <a:xfrm>
            <a:off x="2962219" y="2144910"/>
            <a:ext cx="583126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inst</a:t>
            </a:r>
            <a:r>
              <a:rPr lang="en-US" altLang="zh-CN" sz="400" dirty="0"/>
              <a:t>[31:7]</a:t>
            </a:r>
            <a:endParaRPr lang="zh-CN" altLang="en-US" sz="400" dirty="0"/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91158468-0FA8-3F07-347E-248562BD1F92}"/>
              </a:ext>
            </a:extLst>
          </p:cNvPr>
          <p:cNvCxnSpPr/>
          <p:nvPr/>
        </p:nvCxnSpPr>
        <p:spPr>
          <a:xfrm>
            <a:off x="3346458" y="1837378"/>
            <a:ext cx="0" cy="2113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F2CAC429-6D9A-43EF-3211-B233F2865650}"/>
              </a:ext>
            </a:extLst>
          </p:cNvPr>
          <p:cNvCxnSpPr>
            <a:cxnSpLocks/>
          </p:cNvCxnSpPr>
          <p:nvPr/>
        </p:nvCxnSpPr>
        <p:spPr>
          <a:xfrm>
            <a:off x="4143950" y="2048764"/>
            <a:ext cx="0" cy="2370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4DB4EC76-69FA-FB6B-9916-CD3000170815}"/>
              </a:ext>
            </a:extLst>
          </p:cNvPr>
          <p:cNvCxnSpPr>
            <a:cxnSpLocks/>
          </p:cNvCxnSpPr>
          <p:nvPr/>
        </p:nvCxnSpPr>
        <p:spPr>
          <a:xfrm>
            <a:off x="3346456" y="2048765"/>
            <a:ext cx="8003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FAB9AA16-ED21-03B7-F50E-13B64BEFA29A}"/>
              </a:ext>
            </a:extLst>
          </p:cNvPr>
          <p:cNvCxnSpPr>
            <a:cxnSpLocks/>
          </p:cNvCxnSpPr>
          <p:nvPr/>
        </p:nvCxnSpPr>
        <p:spPr>
          <a:xfrm>
            <a:off x="4243152" y="1460788"/>
            <a:ext cx="3158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3DC14892-2228-439E-49F3-EEC9056885B9}"/>
              </a:ext>
            </a:extLst>
          </p:cNvPr>
          <p:cNvCxnSpPr>
            <a:cxnSpLocks/>
          </p:cNvCxnSpPr>
          <p:nvPr/>
        </p:nvCxnSpPr>
        <p:spPr>
          <a:xfrm flipV="1">
            <a:off x="4245515" y="1635176"/>
            <a:ext cx="313474" cy="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53349E41-74D2-CA1F-3309-D37EC26B5116}"/>
              </a:ext>
            </a:extLst>
          </p:cNvPr>
          <p:cNvCxnSpPr>
            <a:cxnSpLocks/>
          </p:cNvCxnSpPr>
          <p:nvPr/>
        </p:nvCxnSpPr>
        <p:spPr>
          <a:xfrm>
            <a:off x="4245515" y="1795656"/>
            <a:ext cx="3134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DB89E34E-4222-2518-FEF7-05721617E4CB}"/>
              </a:ext>
            </a:extLst>
          </p:cNvPr>
          <p:cNvCxnSpPr>
            <a:cxnSpLocks/>
          </p:cNvCxnSpPr>
          <p:nvPr/>
        </p:nvCxnSpPr>
        <p:spPr>
          <a:xfrm>
            <a:off x="4243152" y="1460788"/>
            <a:ext cx="2365" cy="10703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2BA8E89A-FA63-82DC-EA5A-6CB67C2AC06B}"/>
              </a:ext>
            </a:extLst>
          </p:cNvPr>
          <p:cNvCxnSpPr>
            <a:cxnSpLocks/>
          </p:cNvCxnSpPr>
          <p:nvPr/>
        </p:nvCxnSpPr>
        <p:spPr>
          <a:xfrm flipH="1">
            <a:off x="2766096" y="2531162"/>
            <a:ext cx="14794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5EDAA3C7-A6F4-237D-C252-A48AE54ABF5F}"/>
              </a:ext>
            </a:extLst>
          </p:cNvPr>
          <p:cNvSpPr txBox="1"/>
          <p:nvPr/>
        </p:nvSpPr>
        <p:spPr>
          <a:xfrm>
            <a:off x="4188229" y="1353299"/>
            <a:ext cx="40524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inst</a:t>
            </a:r>
            <a:r>
              <a:rPr lang="en-US" altLang="zh-CN" sz="400" dirty="0"/>
              <a:t>[19:15]</a:t>
            </a:r>
            <a:endParaRPr lang="zh-CN" altLang="en-US" sz="400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653B887F-15D2-8CDF-BF4D-22CCBCBACEFC}"/>
              </a:ext>
            </a:extLst>
          </p:cNvPr>
          <p:cNvSpPr txBox="1"/>
          <p:nvPr/>
        </p:nvSpPr>
        <p:spPr>
          <a:xfrm>
            <a:off x="4183983" y="1513115"/>
            <a:ext cx="40524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inst</a:t>
            </a:r>
            <a:r>
              <a:rPr lang="en-US" altLang="zh-CN" sz="400" dirty="0"/>
              <a:t>[24:20]</a:t>
            </a:r>
            <a:endParaRPr lang="zh-CN" altLang="en-US" sz="400" dirty="0"/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679E7D50-9BA2-CB1D-CE41-2A4BCB873861}"/>
              </a:ext>
            </a:extLst>
          </p:cNvPr>
          <p:cNvSpPr txBox="1"/>
          <p:nvPr/>
        </p:nvSpPr>
        <p:spPr>
          <a:xfrm>
            <a:off x="4202750" y="1689223"/>
            <a:ext cx="40524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inst</a:t>
            </a:r>
            <a:r>
              <a:rPr lang="en-US" altLang="zh-CN" sz="400" dirty="0"/>
              <a:t>[11:7]</a:t>
            </a:r>
            <a:endParaRPr lang="zh-CN" altLang="en-US" sz="400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DDDFCAF3-30F4-A360-6074-4B180D13E3BF}"/>
              </a:ext>
            </a:extLst>
          </p:cNvPr>
          <p:cNvSpPr txBox="1"/>
          <p:nvPr/>
        </p:nvSpPr>
        <p:spPr>
          <a:xfrm>
            <a:off x="2712115" y="2410924"/>
            <a:ext cx="39943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IROM.inst</a:t>
            </a:r>
            <a:endParaRPr lang="zh-CN" altLang="en-US" sz="400" dirty="0"/>
          </a:p>
        </p:txBody>
      </p: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15C8A657-9571-6C0A-EF9C-94F5F2C7F5D0}"/>
              </a:ext>
            </a:extLst>
          </p:cNvPr>
          <p:cNvCxnSpPr>
            <a:stCxn id="62" idx="2"/>
          </p:cNvCxnSpPr>
          <p:nvPr/>
        </p:nvCxnSpPr>
        <p:spPr>
          <a:xfrm flipV="1">
            <a:off x="3867401" y="1668759"/>
            <a:ext cx="197117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852E9744-04C7-5FF6-B66F-3259A45530F6}"/>
              </a:ext>
            </a:extLst>
          </p:cNvPr>
          <p:cNvCxnSpPr/>
          <p:nvPr/>
        </p:nvCxnSpPr>
        <p:spPr>
          <a:xfrm>
            <a:off x="4064518" y="1140389"/>
            <a:ext cx="82006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CC09CC0A-BA7C-7BE6-8FA5-DA467BE6D1CC}"/>
              </a:ext>
            </a:extLst>
          </p:cNvPr>
          <p:cNvCxnSpPr/>
          <p:nvPr/>
        </p:nvCxnSpPr>
        <p:spPr>
          <a:xfrm>
            <a:off x="4064516" y="1290970"/>
            <a:ext cx="0" cy="3777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1137F3AB-FD34-D7A7-D781-FFB0F6A3EDFB}"/>
              </a:ext>
            </a:extLst>
          </p:cNvPr>
          <p:cNvCxnSpPr>
            <a:cxnSpLocks/>
          </p:cNvCxnSpPr>
          <p:nvPr/>
        </p:nvCxnSpPr>
        <p:spPr>
          <a:xfrm>
            <a:off x="4884586" y="1140389"/>
            <a:ext cx="0" cy="208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D928736D-6629-E02A-F850-F7E3B7D0115D}"/>
              </a:ext>
            </a:extLst>
          </p:cNvPr>
          <p:cNvCxnSpPr>
            <a:cxnSpLocks/>
          </p:cNvCxnSpPr>
          <p:nvPr/>
        </p:nvCxnSpPr>
        <p:spPr>
          <a:xfrm>
            <a:off x="5221917" y="1571009"/>
            <a:ext cx="21569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8A59D69E-806C-101D-BC68-B127516FC5A7}"/>
              </a:ext>
            </a:extLst>
          </p:cNvPr>
          <p:cNvCxnSpPr>
            <a:cxnSpLocks/>
          </p:cNvCxnSpPr>
          <p:nvPr/>
        </p:nvCxnSpPr>
        <p:spPr>
          <a:xfrm flipV="1">
            <a:off x="5217276" y="1723548"/>
            <a:ext cx="2249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559F4C7C-14F7-2B06-1CEF-36A2C4E53AAE}"/>
              </a:ext>
            </a:extLst>
          </p:cNvPr>
          <p:cNvCxnSpPr>
            <a:cxnSpLocks/>
          </p:cNvCxnSpPr>
          <p:nvPr/>
        </p:nvCxnSpPr>
        <p:spPr>
          <a:xfrm>
            <a:off x="3021356" y="2290684"/>
            <a:ext cx="0" cy="2404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5161C3D7-1A12-41BE-36CD-89F4F4CAB42F}"/>
              </a:ext>
            </a:extLst>
          </p:cNvPr>
          <p:cNvCxnSpPr/>
          <p:nvPr/>
        </p:nvCxnSpPr>
        <p:spPr>
          <a:xfrm>
            <a:off x="4064516" y="1140388"/>
            <a:ext cx="0" cy="1505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AB12BFCC-33B4-B088-9DE8-79417432E81B}"/>
              </a:ext>
            </a:extLst>
          </p:cNvPr>
          <p:cNvCxnSpPr>
            <a:cxnSpLocks/>
          </p:cNvCxnSpPr>
          <p:nvPr/>
        </p:nvCxnSpPr>
        <p:spPr>
          <a:xfrm>
            <a:off x="3017178" y="2290050"/>
            <a:ext cx="2807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28FFA9D8-BAB0-FBE2-E169-4107A34AD626}"/>
              </a:ext>
            </a:extLst>
          </p:cNvPr>
          <p:cNvCxnSpPr>
            <a:cxnSpLocks/>
          </p:cNvCxnSpPr>
          <p:nvPr/>
        </p:nvCxnSpPr>
        <p:spPr>
          <a:xfrm flipV="1">
            <a:off x="5442258" y="1317436"/>
            <a:ext cx="0" cy="2572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B5C8862F-E2BC-50A3-6D1E-F7FDF2F5AE8B}"/>
              </a:ext>
            </a:extLst>
          </p:cNvPr>
          <p:cNvCxnSpPr>
            <a:cxnSpLocks/>
          </p:cNvCxnSpPr>
          <p:nvPr/>
        </p:nvCxnSpPr>
        <p:spPr>
          <a:xfrm>
            <a:off x="4069197" y="2285818"/>
            <a:ext cx="1551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E8729DC0-E0E8-2B68-AFD9-44B6FB8EE37D}"/>
              </a:ext>
            </a:extLst>
          </p:cNvPr>
          <p:cNvCxnSpPr>
            <a:cxnSpLocks/>
          </p:cNvCxnSpPr>
          <p:nvPr/>
        </p:nvCxnSpPr>
        <p:spPr>
          <a:xfrm>
            <a:off x="4215920" y="2285818"/>
            <a:ext cx="121243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8D83B5AF-E57F-E2CB-0FCA-6898AB71AF1F}"/>
              </a:ext>
            </a:extLst>
          </p:cNvPr>
          <p:cNvCxnSpPr>
            <a:cxnSpLocks/>
          </p:cNvCxnSpPr>
          <p:nvPr/>
        </p:nvCxnSpPr>
        <p:spPr>
          <a:xfrm flipH="1">
            <a:off x="5427964" y="1976751"/>
            <a:ext cx="2177" cy="3090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6DA02FDE-D696-1196-FA93-7A0BB5312599}"/>
              </a:ext>
            </a:extLst>
          </p:cNvPr>
          <p:cNvCxnSpPr>
            <a:cxnSpLocks/>
          </p:cNvCxnSpPr>
          <p:nvPr/>
        </p:nvCxnSpPr>
        <p:spPr>
          <a:xfrm>
            <a:off x="6823464" y="1468150"/>
            <a:ext cx="29860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EA775179-518D-D74E-C911-38FC65286706}"/>
              </a:ext>
            </a:extLst>
          </p:cNvPr>
          <p:cNvCxnSpPr>
            <a:cxnSpLocks/>
          </p:cNvCxnSpPr>
          <p:nvPr/>
        </p:nvCxnSpPr>
        <p:spPr>
          <a:xfrm>
            <a:off x="6821318" y="1676577"/>
            <a:ext cx="34148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DF8139BD-1D21-7691-6152-C27B9132A162}"/>
              </a:ext>
            </a:extLst>
          </p:cNvPr>
          <p:cNvCxnSpPr>
            <a:cxnSpLocks/>
          </p:cNvCxnSpPr>
          <p:nvPr/>
        </p:nvCxnSpPr>
        <p:spPr>
          <a:xfrm>
            <a:off x="1886674" y="723083"/>
            <a:ext cx="527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E5D8C51A-076A-D0BA-1975-65A687FD399A}"/>
              </a:ext>
            </a:extLst>
          </p:cNvPr>
          <p:cNvCxnSpPr>
            <a:cxnSpLocks/>
          </p:cNvCxnSpPr>
          <p:nvPr/>
        </p:nvCxnSpPr>
        <p:spPr>
          <a:xfrm>
            <a:off x="3286684" y="721827"/>
            <a:ext cx="0" cy="6475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70ACB4D0-1938-1025-DBCD-7F72BCB5BA4F}"/>
              </a:ext>
            </a:extLst>
          </p:cNvPr>
          <p:cNvCxnSpPr>
            <a:cxnSpLocks/>
          </p:cNvCxnSpPr>
          <p:nvPr/>
        </p:nvCxnSpPr>
        <p:spPr>
          <a:xfrm>
            <a:off x="7160184" y="722770"/>
            <a:ext cx="0" cy="15029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6" name="矩形 165">
            <a:extLst>
              <a:ext uri="{FF2B5EF4-FFF2-40B4-BE49-F238E27FC236}">
                <a16:creationId xmlns:a16="http://schemas.microsoft.com/office/drawing/2014/main" id="{23B1A855-1F21-F963-20C1-4C15A496A50E}"/>
              </a:ext>
            </a:extLst>
          </p:cNvPr>
          <p:cNvSpPr/>
          <p:nvPr/>
        </p:nvSpPr>
        <p:spPr>
          <a:xfrm>
            <a:off x="1400136" y="1888069"/>
            <a:ext cx="443906" cy="580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63" dirty="0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3EA36C13-B996-285C-C48A-70EACF107E44}"/>
              </a:ext>
            </a:extLst>
          </p:cNvPr>
          <p:cNvSpPr/>
          <p:nvPr/>
        </p:nvSpPr>
        <p:spPr>
          <a:xfrm>
            <a:off x="2009735" y="1888070"/>
            <a:ext cx="398186" cy="580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063" dirty="0"/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DFF02CD3-87C5-BE09-6D93-2A8AF1679682}"/>
              </a:ext>
            </a:extLst>
          </p:cNvPr>
          <p:cNvSpPr txBox="1"/>
          <p:nvPr/>
        </p:nvSpPr>
        <p:spPr>
          <a:xfrm>
            <a:off x="748347" y="1728472"/>
            <a:ext cx="3994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NPC</a:t>
            </a:r>
            <a:endParaRPr lang="zh-CN" altLang="en-US" sz="700" dirty="0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C8BA2705-9174-6519-36B8-244F39126CDA}"/>
              </a:ext>
            </a:extLst>
          </p:cNvPr>
          <p:cNvSpPr txBox="1"/>
          <p:nvPr/>
        </p:nvSpPr>
        <p:spPr>
          <a:xfrm>
            <a:off x="1456093" y="1728472"/>
            <a:ext cx="3994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 PC</a:t>
            </a:r>
            <a:endParaRPr lang="zh-CN" altLang="en-US" sz="700" dirty="0"/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8659A939-33EE-E26F-0E20-9A40620939E1}"/>
              </a:ext>
            </a:extLst>
          </p:cNvPr>
          <p:cNvSpPr txBox="1"/>
          <p:nvPr/>
        </p:nvSpPr>
        <p:spPr>
          <a:xfrm>
            <a:off x="2019973" y="1733551"/>
            <a:ext cx="39943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IROM</a:t>
            </a:r>
            <a:endParaRPr lang="zh-CN" altLang="en-US" sz="700" dirty="0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EBDB6103-31AE-AD6B-7FBE-ECF613BDF21E}"/>
              </a:ext>
            </a:extLst>
          </p:cNvPr>
          <p:cNvSpPr txBox="1"/>
          <p:nvPr/>
        </p:nvSpPr>
        <p:spPr>
          <a:xfrm>
            <a:off x="620203" y="1916679"/>
            <a:ext cx="65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PC</a:t>
            </a:r>
          </a:p>
          <a:p>
            <a:endParaRPr lang="en-US" altLang="zh-CN" sz="400" dirty="0"/>
          </a:p>
          <a:p>
            <a:r>
              <a:rPr lang="en-US" altLang="zh-CN" sz="400" dirty="0" err="1"/>
              <a:t>br</a:t>
            </a:r>
            <a:endParaRPr lang="en-US" altLang="zh-CN" sz="400" dirty="0"/>
          </a:p>
          <a:p>
            <a:endParaRPr lang="en-US" altLang="zh-CN" sz="400" dirty="0"/>
          </a:p>
          <a:p>
            <a:r>
              <a:rPr lang="en-US" altLang="zh-CN" sz="400" dirty="0"/>
              <a:t>offset</a:t>
            </a:r>
          </a:p>
          <a:p>
            <a:endParaRPr lang="en-US" altLang="zh-CN" sz="400" dirty="0"/>
          </a:p>
          <a:p>
            <a:r>
              <a:rPr lang="en-US" altLang="zh-CN" sz="400" dirty="0"/>
              <a:t>op</a:t>
            </a:r>
            <a:endParaRPr lang="zh-CN" altLang="en-US" sz="400" dirty="0"/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C6766B74-BBAC-555D-DE45-E50560C893AC}"/>
              </a:ext>
            </a:extLst>
          </p:cNvPr>
          <p:cNvSpPr txBox="1"/>
          <p:nvPr/>
        </p:nvSpPr>
        <p:spPr>
          <a:xfrm>
            <a:off x="955481" y="2039790"/>
            <a:ext cx="6599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npc</a:t>
            </a:r>
            <a:endParaRPr lang="en-US" altLang="zh-CN" sz="400" dirty="0"/>
          </a:p>
          <a:p>
            <a:endParaRPr lang="en-US" altLang="zh-CN" sz="400" dirty="0"/>
          </a:p>
          <a:p>
            <a:r>
              <a:rPr lang="en-US" altLang="zh-CN" sz="400" dirty="0"/>
              <a:t>pc4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60793F6A-A749-77AA-4E43-BFD12773781A}"/>
              </a:ext>
            </a:extLst>
          </p:cNvPr>
          <p:cNvSpPr txBox="1"/>
          <p:nvPr/>
        </p:nvSpPr>
        <p:spPr>
          <a:xfrm>
            <a:off x="1350396" y="1913893"/>
            <a:ext cx="659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rst</a:t>
            </a:r>
            <a:endParaRPr lang="en-US" altLang="zh-CN" sz="400" dirty="0"/>
          </a:p>
          <a:p>
            <a:endParaRPr lang="en-US" altLang="zh-CN" sz="400" dirty="0"/>
          </a:p>
          <a:p>
            <a:r>
              <a:rPr lang="en-US" altLang="zh-CN" sz="400"/>
              <a:t>din</a:t>
            </a:r>
          </a:p>
          <a:p>
            <a:endParaRPr lang="en-US" altLang="zh-CN" sz="400"/>
          </a:p>
          <a:p>
            <a:endParaRPr lang="en-US" altLang="zh-CN" sz="400"/>
          </a:p>
          <a:p>
            <a:endParaRPr lang="en-US" altLang="zh-CN" sz="400"/>
          </a:p>
          <a:p>
            <a:r>
              <a:rPr lang="en-US" altLang="zh-CN" sz="400"/>
              <a:t>stop</a:t>
            </a:r>
            <a:endParaRPr lang="en-US" altLang="zh-CN" sz="400" dirty="0"/>
          </a:p>
        </p:txBody>
      </p:sp>
      <p:sp>
        <p:nvSpPr>
          <p:cNvPr id="175" name="等腰三角形 174">
            <a:extLst>
              <a:ext uri="{FF2B5EF4-FFF2-40B4-BE49-F238E27FC236}">
                <a16:creationId xmlns:a16="http://schemas.microsoft.com/office/drawing/2014/main" id="{8A52A5E8-047C-6938-6C32-940E20448A26}"/>
              </a:ext>
            </a:extLst>
          </p:cNvPr>
          <p:cNvSpPr/>
          <p:nvPr/>
        </p:nvSpPr>
        <p:spPr>
          <a:xfrm>
            <a:off x="1543905" y="2368008"/>
            <a:ext cx="149752" cy="100503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700"/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4F3E182B-F520-71C3-2BCC-1AC617697E71}"/>
              </a:ext>
            </a:extLst>
          </p:cNvPr>
          <p:cNvSpPr txBox="1"/>
          <p:nvPr/>
        </p:nvSpPr>
        <p:spPr>
          <a:xfrm>
            <a:off x="1673750" y="2080521"/>
            <a:ext cx="33793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pc</a:t>
            </a:r>
            <a:endParaRPr lang="zh-CN" altLang="en-US" sz="400" dirty="0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D03EE0A8-20C4-4445-86AE-BCA0678DD939}"/>
              </a:ext>
            </a:extLst>
          </p:cNvPr>
          <p:cNvSpPr txBox="1"/>
          <p:nvPr/>
        </p:nvSpPr>
        <p:spPr>
          <a:xfrm>
            <a:off x="1501954" y="2236895"/>
            <a:ext cx="33793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clk</a:t>
            </a:r>
            <a:endParaRPr lang="zh-CN" altLang="en-US" sz="400" dirty="0"/>
          </a:p>
        </p:txBody>
      </p: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B3B6869E-2EEA-7953-E653-ED0BD4BBF5BB}"/>
              </a:ext>
            </a:extLst>
          </p:cNvPr>
          <p:cNvCxnSpPr>
            <a:cxnSpLocks/>
          </p:cNvCxnSpPr>
          <p:nvPr/>
        </p:nvCxnSpPr>
        <p:spPr>
          <a:xfrm>
            <a:off x="1160223" y="2116301"/>
            <a:ext cx="2312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4" name="流程图: 手动操作 183">
            <a:extLst>
              <a:ext uri="{FF2B5EF4-FFF2-40B4-BE49-F238E27FC236}">
                <a16:creationId xmlns:a16="http://schemas.microsoft.com/office/drawing/2014/main" id="{039052E8-A55B-E695-C444-61A54E1B3E89}"/>
              </a:ext>
            </a:extLst>
          </p:cNvPr>
          <p:cNvSpPr/>
          <p:nvPr/>
        </p:nvSpPr>
        <p:spPr>
          <a:xfrm rot="5400000">
            <a:off x="1186186" y="1056628"/>
            <a:ext cx="645879" cy="368141"/>
          </a:xfrm>
          <a:prstGeom prst="flowChartManualOperat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CN" sz="700" dirty="0"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3B989ADE-B57B-DD97-FC03-5A28480ACCF1}"/>
              </a:ext>
            </a:extLst>
          </p:cNvPr>
          <p:cNvSpPr txBox="1"/>
          <p:nvPr/>
        </p:nvSpPr>
        <p:spPr>
          <a:xfrm>
            <a:off x="1338855" y="1075315"/>
            <a:ext cx="452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MUX</a:t>
            </a:r>
          </a:p>
          <a:p>
            <a:r>
              <a:rPr lang="en-US" altLang="zh-CN" sz="700" dirty="0"/>
              <a:t> 2_1</a:t>
            </a:r>
            <a:endParaRPr lang="zh-CN" altLang="en-US" sz="700" dirty="0"/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9698072B-EF3D-92FE-1F3E-4ECA054EAF17}"/>
              </a:ext>
            </a:extLst>
          </p:cNvPr>
          <p:cNvSpPr txBox="1"/>
          <p:nvPr/>
        </p:nvSpPr>
        <p:spPr>
          <a:xfrm>
            <a:off x="1371877" y="1342245"/>
            <a:ext cx="3533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 err="1"/>
              <a:t>sel</a:t>
            </a:r>
            <a:endParaRPr lang="en-US" altLang="zh-CN" sz="700" dirty="0"/>
          </a:p>
        </p:txBody>
      </p: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B361F4CB-B5B9-1281-C7E9-50A5834325DD}"/>
              </a:ext>
            </a:extLst>
          </p:cNvPr>
          <p:cNvCxnSpPr>
            <a:cxnSpLocks/>
          </p:cNvCxnSpPr>
          <p:nvPr/>
        </p:nvCxnSpPr>
        <p:spPr>
          <a:xfrm>
            <a:off x="453224" y="2002332"/>
            <a:ext cx="2019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3F667DCB-6A06-B41E-7BA3-D6A86691463B}"/>
              </a:ext>
            </a:extLst>
          </p:cNvPr>
          <p:cNvCxnSpPr>
            <a:cxnSpLocks/>
          </p:cNvCxnSpPr>
          <p:nvPr/>
        </p:nvCxnSpPr>
        <p:spPr>
          <a:xfrm>
            <a:off x="457715" y="1258252"/>
            <a:ext cx="8720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EC0B36A9-3E06-6F8F-78CD-5F750663AEE8}"/>
              </a:ext>
            </a:extLst>
          </p:cNvPr>
          <p:cNvCxnSpPr>
            <a:cxnSpLocks/>
          </p:cNvCxnSpPr>
          <p:nvPr/>
        </p:nvCxnSpPr>
        <p:spPr>
          <a:xfrm>
            <a:off x="457201" y="1257908"/>
            <a:ext cx="0" cy="7431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1" name="文本框 200">
            <a:extLst>
              <a:ext uri="{FF2B5EF4-FFF2-40B4-BE49-F238E27FC236}">
                <a16:creationId xmlns:a16="http://schemas.microsoft.com/office/drawing/2014/main" id="{7CCEFFCD-FC40-0E48-72E6-2952E2200FD5}"/>
              </a:ext>
            </a:extLst>
          </p:cNvPr>
          <p:cNvSpPr txBox="1"/>
          <p:nvPr/>
        </p:nvSpPr>
        <p:spPr>
          <a:xfrm>
            <a:off x="1959996" y="2077489"/>
            <a:ext cx="10372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adr</a:t>
            </a:r>
            <a:r>
              <a:rPr lang="en-US" altLang="zh-CN" sz="400" dirty="0"/>
              <a:t>                 </a:t>
            </a:r>
            <a:r>
              <a:rPr lang="en-US" altLang="zh-CN" sz="400" dirty="0" err="1"/>
              <a:t>inst</a:t>
            </a:r>
            <a:endParaRPr lang="en-US" altLang="zh-CN" sz="400" dirty="0"/>
          </a:p>
        </p:txBody>
      </p: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EF9CE831-31E0-70E3-BBB9-B413F3B53A61}"/>
              </a:ext>
            </a:extLst>
          </p:cNvPr>
          <p:cNvCxnSpPr>
            <a:cxnSpLocks/>
          </p:cNvCxnSpPr>
          <p:nvPr/>
        </p:nvCxnSpPr>
        <p:spPr>
          <a:xfrm>
            <a:off x="1846692" y="2156897"/>
            <a:ext cx="157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420C6CD3-4294-2C28-E394-9D705D5551F0}"/>
              </a:ext>
            </a:extLst>
          </p:cNvPr>
          <p:cNvCxnSpPr>
            <a:cxnSpLocks/>
          </p:cNvCxnSpPr>
          <p:nvPr/>
        </p:nvCxnSpPr>
        <p:spPr>
          <a:xfrm flipH="1">
            <a:off x="1705071" y="1363511"/>
            <a:ext cx="1775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54AC6FCF-C85D-C7CD-49D4-B7DC820FD411}"/>
              </a:ext>
            </a:extLst>
          </p:cNvPr>
          <p:cNvCxnSpPr>
            <a:cxnSpLocks/>
          </p:cNvCxnSpPr>
          <p:nvPr/>
        </p:nvCxnSpPr>
        <p:spPr>
          <a:xfrm>
            <a:off x="1885307" y="1360918"/>
            <a:ext cx="0" cy="7971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4" name="直接连接符 223">
            <a:extLst>
              <a:ext uri="{FF2B5EF4-FFF2-40B4-BE49-F238E27FC236}">
                <a16:creationId xmlns:a16="http://schemas.microsoft.com/office/drawing/2014/main" id="{AF84D689-C4EF-2D07-6E1E-C86DE9905A94}"/>
              </a:ext>
            </a:extLst>
          </p:cNvPr>
          <p:cNvCxnSpPr>
            <a:cxnSpLocks/>
          </p:cNvCxnSpPr>
          <p:nvPr/>
        </p:nvCxnSpPr>
        <p:spPr>
          <a:xfrm>
            <a:off x="1241147" y="1667936"/>
            <a:ext cx="0" cy="329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9" name="直接箭头连接符 228">
            <a:extLst>
              <a:ext uri="{FF2B5EF4-FFF2-40B4-BE49-F238E27FC236}">
                <a16:creationId xmlns:a16="http://schemas.microsoft.com/office/drawing/2014/main" id="{025B3A7D-271E-B9F0-9544-5CF6BEA9AFF2}"/>
              </a:ext>
            </a:extLst>
          </p:cNvPr>
          <p:cNvCxnSpPr>
            <a:cxnSpLocks/>
          </p:cNvCxnSpPr>
          <p:nvPr/>
        </p:nvCxnSpPr>
        <p:spPr>
          <a:xfrm>
            <a:off x="1237093" y="1996032"/>
            <a:ext cx="1570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0" name="文本框 229">
            <a:extLst>
              <a:ext uri="{FF2B5EF4-FFF2-40B4-BE49-F238E27FC236}">
                <a16:creationId xmlns:a16="http://schemas.microsoft.com/office/drawing/2014/main" id="{6FBF5655-3350-86AE-744F-7C37D9D24D70}"/>
              </a:ext>
            </a:extLst>
          </p:cNvPr>
          <p:cNvSpPr txBox="1"/>
          <p:nvPr/>
        </p:nvSpPr>
        <p:spPr>
          <a:xfrm>
            <a:off x="1092199" y="1552599"/>
            <a:ext cx="33866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reset</a:t>
            </a:r>
            <a:endParaRPr lang="zh-CN" altLang="en-US" sz="400" dirty="0"/>
          </a:p>
        </p:txBody>
      </p: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CE38B0B6-1A87-359D-3316-5D9EE8165911}"/>
              </a:ext>
            </a:extLst>
          </p:cNvPr>
          <p:cNvCxnSpPr>
            <a:cxnSpLocks/>
          </p:cNvCxnSpPr>
          <p:nvPr/>
        </p:nvCxnSpPr>
        <p:spPr>
          <a:xfrm>
            <a:off x="7122084" y="518863"/>
            <a:ext cx="0" cy="95039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591A2359-8C2A-DE0A-6C7D-DB47AF6CA1C9}"/>
              </a:ext>
            </a:extLst>
          </p:cNvPr>
          <p:cNvCxnSpPr>
            <a:cxnSpLocks/>
          </p:cNvCxnSpPr>
          <p:nvPr/>
        </p:nvCxnSpPr>
        <p:spPr>
          <a:xfrm>
            <a:off x="317501" y="519882"/>
            <a:ext cx="680923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7DEC8D2E-5517-148C-4B5F-DE9CDD2F1FAA}"/>
              </a:ext>
            </a:extLst>
          </p:cNvPr>
          <p:cNvCxnSpPr>
            <a:cxnSpLocks/>
          </p:cNvCxnSpPr>
          <p:nvPr/>
        </p:nvCxnSpPr>
        <p:spPr>
          <a:xfrm>
            <a:off x="320041" y="521686"/>
            <a:ext cx="0" cy="1608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0978DE76-46B8-94D1-13A2-5FACAE729D8B}"/>
              </a:ext>
            </a:extLst>
          </p:cNvPr>
          <p:cNvCxnSpPr>
            <a:cxnSpLocks/>
          </p:cNvCxnSpPr>
          <p:nvPr/>
        </p:nvCxnSpPr>
        <p:spPr>
          <a:xfrm>
            <a:off x="321734" y="2127611"/>
            <a:ext cx="3334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直接连接符 238">
            <a:extLst>
              <a:ext uri="{FF2B5EF4-FFF2-40B4-BE49-F238E27FC236}">
                <a16:creationId xmlns:a16="http://schemas.microsoft.com/office/drawing/2014/main" id="{00EEA20C-F1F3-7D8B-0CEC-21642F6B5508}"/>
              </a:ext>
            </a:extLst>
          </p:cNvPr>
          <p:cNvCxnSpPr>
            <a:cxnSpLocks/>
          </p:cNvCxnSpPr>
          <p:nvPr/>
        </p:nvCxnSpPr>
        <p:spPr>
          <a:xfrm>
            <a:off x="2415444" y="2155364"/>
            <a:ext cx="35065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9E4EC77F-C4B7-23A9-591D-C4B88B8EF49A}"/>
              </a:ext>
            </a:extLst>
          </p:cNvPr>
          <p:cNvCxnSpPr>
            <a:cxnSpLocks/>
          </p:cNvCxnSpPr>
          <p:nvPr/>
        </p:nvCxnSpPr>
        <p:spPr>
          <a:xfrm>
            <a:off x="2766096" y="2157767"/>
            <a:ext cx="0" cy="788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014F4EB3-DD14-6000-64ED-73E6535DCEFF}"/>
              </a:ext>
            </a:extLst>
          </p:cNvPr>
          <p:cNvCxnSpPr>
            <a:cxnSpLocks/>
          </p:cNvCxnSpPr>
          <p:nvPr/>
        </p:nvCxnSpPr>
        <p:spPr>
          <a:xfrm>
            <a:off x="1156247" y="2239345"/>
            <a:ext cx="1524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8" name="直接连接符 257">
            <a:extLst>
              <a:ext uri="{FF2B5EF4-FFF2-40B4-BE49-F238E27FC236}">
                <a16:creationId xmlns:a16="http://schemas.microsoft.com/office/drawing/2014/main" id="{850A40E8-CB1F-1073-22ED-0E845EFA9774}"/>
              </a:ext>
            </a:extLst>
          </p:cNvPr>
          <p:cNvCxnSpPr>
            <a:cxnSpLocks/>
          </p:cNvCxnSpPr>
          <p:nvPr/>
        </p:nvCxnSpPr>
        <p:spPr>
          <a:xfrm>
            <a:off x="2628901" y="1720922"/>
            <a:ext cx="5639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0" name="直接连接符 259">
            <a:extLst>
              <a:ext uri="{FF2B5EF4-FFF2-40B4-BE49-F238E27FC236}">
                <a16:creationId xmlns:a16="http://schemas.microsoft.com/office/drawing/2014/main" id="{EAEF84AB-0758-AF7A-EB1A-4F770A3B6369}"/>
              </a:ext>
            </a:extLst>
          </p:cNvPr>
          <p:cNvCxnSpPr>
            <a:cxnSpLocks/>
          </p:cNvCxnSpPr>
          <p:nvPr/>
        </p:nvCxnSpPr>
        <p:spPr>
          <a:xfrm>
            <a:off x="2633134" y="1720920"/>
            <a:ext cx="0" cy="8561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3" name="直接连接符 262">
            <a:extLst>
              <a:ext uri="{FF2B5EF4-FFF2-40B4-BE49-F238E27FC236}">
                <a16:creationId xmlns:a16="http://schemas.microsoft.com/office/drawing/2014/main" id="{C7323CF4-321F-FFC2-A22B-C957F73C741B}"/>
              </a:ext>
            </a:extLst>
          </p:cNvPr>
          <p:cNvCxnSpPr>
            <a:cxnSpLocks/>
          </p:cNvCxnSpPr>
          <p:nvPr/>
        </p:nvCxnSpPr>
        <p:spPr>
          <a:xfrm>
            <a:off x="1303867" y="2241913"/>
            <a:ext cx="0" cy="3351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74F9D92B-9A71-8B5D-3F43-02B3F536A732}"/>
              </a:ext>
            </a:extLst>
          </p:cNvPr>
          <p:cNvCxnSpPr>
            <a:cxnSpLocks/>
          </p:cNvCxnSpPr>
          <p:nvPr/>
        </p:nvCxnSpPr>
        <p:spPr>
          <a:xfrm>
            <a:off x="1308100" y="2577061"/>
            <a:ext cx="13255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5" name="直接连接符 274">
            <a:extLst>
              <a:ext uri="{FF2B5EF4-FFF2-40B4-BE49-F238E27FC236}">
                <a16:creationId xmlns:a16="http://schemas.microsoft.com/office/drawing/2014/main" id="{2C5BA61C-AC34-0106-5005-EF11907CD5A7}"/>
              </a:ext>
            </a:extLst>
          </p:cNvPr>
          <p:cNvCxnSpPr>
            <a:cxnSpLocks/>
          </p:cNvCxnSpPr>
          <p:nvPr/>
        </p:nvCxnSpPr>
        <p:spPr>
          <a:xfrm>
            <a:off x="4143950" y="2275289"/>
            <a:ext cx="0" cy="3917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7" name="直接箭头连接符 276">
            <a:extLst>
              <a:ext uri="{FF2B5EF4-FFF2-40B4-BE49-F238E27FC236}">
                <a16:creationId xmlns:a16="http://schemas.microsoft.com/office/drawing/2014/main" id="{FF3A9D09-293C-92C2-9C91-AF648097DE60}"/>
              </a:ext>
            </a:extLst>
          </p:cNvPr>
          <p:cNvCxnSpPr>
            <a:cxnSpLocks/>
          </p:cNvCxnSpPr>
          <p:nvPr/>
        </p:nvCxnSpPr>
        <p:spPr>
          <a:xfrm>
            <a:off x="321734" y="2242624"/>
            <a:ext cx="3334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8" name="直接连接符 277">
            <a:extLst>
              <a:ext uri="{FF2B5EF4-FFF2-40B4-BE49-F238E27FC236}">
                <a16:creationId xmlns:a16="http://schemas.microsoft.com/office/drawing/2014/main" id="{6891E1F1-AC15-FFBE-20D0-B0A5DE0ACF26}"/>
              </a:ext>
            </a:extLst>
          </p:cNvPr>
          <p:cNvCxnSpPr>
            <a:cxnSpLocks/>
          </p:cNvCxnSpPr>
          <p:nvPr/>
        </p:nvCxnSpPr>
        <p:spPr>
          <a:xfrm>
            <a:off x="317501" y="2659486"/>
            <a:ext cx="38306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0" name="直接连接符 279">
            <a:extLst>
              <a:ext uri="{FF2B5EF4-FFF2-40B4-BE49-F238E27FC236}">
                <a16:creationId xmlns:a16="http://schemas.microsoft.com/office/drawing/2014/main" id="{32E37EF9-D8BF-9B55-42B7-3515B45173B5}"/>
              </a:ext>
            </a:extLst>
          </p:cNvPr>
          <p:cNvCxnSpPr>
            <a:cxnSpLocks/>
          </p:cNvCxnSpPr>
          <p:nvPr/>
        </p:nvCxnSpPr>
        <p:spPr>
          <a:xfrm>
            <a:off x="321734" y="2239900"/>
            <a:ext cx="0" cy="4169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矩形 287">
            <a:extLst>
              <a:ext uri="{FF2B5EF4-FFF2-40B4-BE49-F238E27FC236}">
                <a16:creationId xmlns:a16="http://schemas.microsoft.com/office/drawing/2014/main" id="{69031B54-47F6-30D7-812E-12814E308647}"/>
              </a:ext>
            </a:extLst>
          </p:cNvPr>
          <p:cNvSpPr/>
          <p:nvPr/>
        </p:nvSpPr>
        <p:spPr>
          <a:xfrm>
            <a:off x="6491478" y="2484966"/>
            <a:ext cx="381712" cy="6307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9" name="文本框 288">
            <a:extLst>
              <a:ext uri="{FF2B5EF4-FFF2-40B4-BE49-F238E27FC236}">
                <a16:creationId xmlns:a16="http://schemas.microsoft.com/office/drawing/2014/main" id="{38906E99-E171-1614-4473-DB4411F9512A}"/>
              </a:ext>
            </a:extLst>
          </p:cNvPr>
          <p:cNvSpPr txBox="1"/>
          <p:nvPr/>
        </p:nvSpPr>
        <p:spPr>
          <a:xfrm>
            <a:off x="6483013" y="2315099"/>
            <a:ext cx="4761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DRAM</a:t>
            </a:r>
            <a:endParaRPr lang="zh-CN" altLang="en-US" sz="7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FF763A-9E0C-0CC4-A356-046153851741}"/>
              </a:ext>
            </a:extLst>
          </p:cNvPr>
          <p:cNvSpPr txBox="1"/>
          <p:nvPr/>
        </p:nvSpPr>
        <p:spPr>
          <a:xfrm>
            <a:off x="6442602" y="2569865"/>
            <a:ext cx="659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adr</a:t>
            </a:r>
            <a:endParaRPr lang="en-US" altLang="zh-CN" sz="400" dirty="0"/>
          </a:p>
          <a:p>
            <a:endParaRPr lang="en-US" altLang="zh-CN" sz="400" dirty="0"/>
          </a:p>
          <a:p>
            <a:endParaRPr lang="en-US" altLang="zh-CN" sz="400" dirty="0"/>
          </a:p>
          <a:p>
            <a:endParaRPr lang="en-US" altLang="zh-CN" sz="400" dirty="0"/>
          </a:p>
          <a:p>
            <a:endParaRPr lang="en-US" altLang="zh-CN" sz="400" dirty="0"/>
          </a:p>
          <a:p>
            <a:r>
              <a:rPr lang="en-US" altLang="zh-CN" sz="400" dirty="0" err="1"/>
              <a:t>wdin</a:t>
            </a:r>
            <a:endParaRPr lang="zh-CN" altLang="en-US" sz="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F2D325-9DC4-C8A7-516D-FB9F3EB02E0F}"/>
              </a:ext>
            </a:extLst>
          </p:cNvPr>
          <p:cNvSpPr txBox="1"/>
          <p:nvPr/>
        </p:nvSpPr>
        <p:spPr>
          <a:xfrm>
            <a:off x="6700213" y="2720709"/>
            <a:ext cx="1092731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 err="1"/>
              <a:t>rd</a:t>
            </a:r>
            <a:endParaRPr lang="zh-CN" altLang="en-US" sz="40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2B8E6D0-550B-F414-87F5-6B2C27CB67D2}"/>
              </a:ext>
            </a:extLst>
          </p:cNvPr>
          <p:cNvCxnSpPr>
            <a:cxnSpLocks/>
          </p:cNvCxnSpPr>
          <p:nvPr/>
        </p:nvCxnSpPr>
        <p:spPr>
          <a:xfrm>
            <a:off x="1888076" y="721827"/>
            <a:ext cx="0" cy="3845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FF7FD15-F062-B32D-7A2A-34BE143CBB90}"/>
              </a:ext>
            </a:extLst>
          </p:cNvPr>
          <p:cNvCxnSpPr>
            <a:cxnSpLocks/>
          </p:cNvCxnSpPr>
          <p:nvPr/>
        </p:nvCxnSpPr>
        <p:spPr>
          <a:xfrm flipH="1">
            <a:off x="1707003" y="1105009"/>
            <a:ext cx="1775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196D0E6A-D84E-44F2-23C5-29DAD4994CC0}"/>
              </a:ext>
            </a:extLst>
          </p:cNvPr>
          <p:cNvCxnSpPr>
            <a:cxnSpLocks/>
          </p:cNvCxnSpPr>
          <p:nvPr/>
        </p:nvCxnSpPr>
        <p:spPr>
          <a:xfrm flipV="1">
            <a:off x="6300280" y="2223516"/>
            <a:ext cx="855403" cy="50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27EB750-897D-F97C-046F-9842A5FF9310}"/>
              </a:ext>
            </a:extLst>
          </p:cNvPr>
          <p:cNvCxnSpPr>
            <a:cxnSpLocks/>
          </p:cNvCxnSpPr>
          <p:nvPr/>
        </p:nvCxnSpPr>
        <p:spPr>
          <a:xfrm>
            <a:off x="6303173" y="2225693"/>
            <a:ext cx="0" cy="4249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4F69EE6-6132-A024-2C37-C7C7513FC57C}"/>
              </a:ext>
            </a:extLst>
          </p:cNvPr>
          <p:cNvCxnSpPr>
            <a:cxnSpLocks/>
          </p:cNvCxnSpPr>
          <p:nvPr/>
        </p:nvCxnSpPr>
        <p:spPr>
          <a:xfrm>
            <a:off x="6300279" y="2650206"/>
            <a:ext cx="1717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FC051E1-45F7-3556-AF60-5B1A08D936E0}"/>
              </a:ext>
            </a:extLst>
          </p:cNvPr>
          <p:cNvCxnSpPr>
            <a:cxnSpLocks/>
          </p:cNvCxnSpPr>
          <p:nvPr/>
        </p:nvCxnSpPr>
        <p:spPr>
          <a:xfrm>
            <a:off x="2552472" y="1598208"/>
            <a:ext cx="7189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A334AB0-8284-A362-EF03-FE9B6F94BB30}"/>
              </a:ext>
            </a:extLst>
          </p:cNvPr>
          <p:cNvCxnSpPr>
            <a:cxnSpLocks/>
          </p:cNvCxnSpPr>
          <p:nvPr/>
        </p:nvCxnSpPr>
        <p:spPr>
          <a:xfrm>
            <a:off x="2554041" y="1596650"/>
            <a:ext cx="0" cy="154718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54049CB-924C-35FF-F453-FAB0424E1DD3}"/>
              </a:ext>
            </a:extLst>
          </p:cNvPr>
          <p:cNvCxnSpPr>
            <a:cxnSpLocks/>
          </p:cNvCxnSpPr>
          <p:nvPr/>
        </p:nvCxnSpPr>
        <p:spPr>
          <a:xfrm>
            <a:off x="7122069" y="2801074"/>
            <a:ext cx="0" cy="34183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C0E1601-8F81-640A-5FDE-2650B47B7593}"/>
              </a:ext>
            </a:extLst>
          </p:cNvPr>
          <p:cNvCxnSpPr>
            <a:cxnSpLocks/>
          </p:cNvCxnSpPr>
          <p:nvPr/>
        </p:nvCxnSpPr>
        <p:spPr>
          <a:xfrm>
            <a:off x="2558005" y="3142705"/>
            <a:ext cx="45640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D5E9B1C-F872-495D-5415-E3E43019666F}"/>
              </a:ext>
            </a:extLst>
          </p:cNvPr>
          <p:cNvCxnSpPr>
            <a:cxnSpLocks/>
          </p:cNvCxnSpPr>
          <p:nvPr/>
        </p:nvCxnSpPr>
        <p:spPr>
          <a:xfrm>
            <a:off x="6881151" y="2803213"/>
            <a:ext cx="24091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6600B65A-935B-ABCD-E743-D432859171CC}"/>
              </a:ext>
            </a:extLst>
          </p:cNvPr>
          <p:cNvCxnSpPr>
            <a:cxnSpLocks/>
          </p:cNvCxnSpPr>
          <p:nvPr/>
        </p:nvCxnSpPr>
        <p:spPr>
          <a:xfrm flipH="1">
            <a:off x="5304665" y="1726223"/>
            <a:ext cx="1987" cy="12166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D4EBB851-1AEB-75BF-3E57-171843C6EA21}"/>
              </a:ext>
            </a:extLst>
          </p:cNvPr>
          <p:cNvCxnSpPr>
            <a:cxnSpLocks/>
          </p:cNvCxnSpPr>
          <p:nvPr/>
        </p:nvCxnSpPr>
        <p:spPr>
          <a:xfrm>
            <a:off x="5306055" y="2941501"/>
            <a:ext cx="11679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6C2E6841-7AD9-89D8-235D-A0155CFFC282}"/>
              </a:ext>
            </a:extLst>
          </p:cNvPr>
          <p:cNvSpPr/>
          <p:nvPr/>
        </p:nvSpPr>
        <p:spPr>
          <a:xfrm>
            <a:off x="2117556" y="3236956"/>
            <a:ext cx="2992794" cy="61324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dirty="0"/>
              <a:t>control</a:t>
            </a:r>
            <a:endParaRPr lang="zh-CN" altLang="en-US" sz="1050" dirty="0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2F82886D-9690-9854-DB5C-19528657251B}"/>
              </a:ext>
            </a:extLst>
          </p:cNvPr>
          <p:cNvSpPr txBox="1"/>
          <p:nvPr/>
        </p:nvSpPr>
        <p:spPr>
          <a:xfrm>
            <a:off x="2126494" y="3252363"/>
            <a:ext cx="36227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npc_sel</a:t>
            </a:r>
            <a:r>
              <a:rPr lang="en-US" altLang="zh-CN" sz="800" dirty="0"/>
              <a:t>               </a:t>
            </a:r>
            <a:r>
              <a:rPr lang="en-US" altLang="zh-CN" sz="800" dirty="0" err="1"/>
              <a:t>sext_op</a:t>
            </a:r>
            <a:r>
              <a:rPr lang="en-US" altLang="zh-CN" sz="800" dirty="0"/>
              <a:t>              </a:t>
            </a:r>
            <a:r>
              <a:rPr lang="en-US" altLang="zh-CN" sz="800" dirty="0" err="1"/>
              <a:t>rf_sel</a:t>
            </a:r>
            <a:r>
              <a:rPr lang="en-US" altLang="zh-CN" sz="800" dirty="0"/>
              <a:t>               </a:t>
            </a:r>
            <a:r>
              <a:rPr lang="en-US" altLang="zh-CN" sz="800" dirty="0" err="1"/>
              <a:t>rf_we</a:t>
            </a:r>
            <a:r>
              <a:rPr lang="en-US" altLang="zh-CN" sz="800" dirty="0"/>
              <a:t>                 </a:t>
            </a:r>
            <a:r>
              <a:rPr lang="en-US" altLang="zh-CN" sz="800" dirty="0" err="1"/>
              <a:t>alu_sel</a:t>
            </a:r>
            <a:endParaRPr lang="zh-CN" altLang="en-US" sz="800" dirty="0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75F3F7D5-0A82-FA94-8030-65F7433E712C}"/>
              </a:ext>
            </a:extLst>
          </p:cNvPr>
          <p:cNvSpPr txBox="1"/>
          <p:nvPr/>
        </p:nvSpPr>
        <p:spPr>
          <a:xfrm>
            <a:off x="2119926" y="3433107"/>
            <a:ext cx="5011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npc_op</a:t>
            </a:r>
            <a:endParaRPr lang="zh-CN" altLang="en-US" sz="800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4DFD4C65-F56A-D466-FD50-635E25E745F2}"/>
              </a:ext>
            </a:extLst>
          </p:cNvPr>
          <p:cNvSpPr txBox="1"/>
          <p:nvPr/>
        </p:nvSpPr>
        <p:spPr>
          <a:xfrm>
            <a:off x="4611464" y="3437356"/>
            <a:ext cx="5011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alu_op</a:t>
            </a:r>
            <a:endParaRPr lang="zh-CN" altLang="en-US" sz="800" dirty="0"/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998E3986-BB7E-1AB6-4B77-0A901E9ED880}"/>
              </a:ext>
            </a:extLst>
          </p:cNvPr>
          <p:cNvSpPr txBox="1"/>
          <p:nvPr/>
        </p:nvSpPr>
        <p:spPr>
          <a:xfrm>
            <a:off x="4589230" y="3573613"/>
            <a:ext cx="6092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ram_we</a:t>
            </a:r>
            <a:endParaRPr lang="zh-CN" altLang="en-US" sz="800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0A14BAB-0B4C-EF67-DB8D-4EFE9A4DEB39}"/>
              </a:ext>
            </a:extLst>
          </p:cNvPr>
          <p:cNvSpPr txBox="1"/>
          <p:nvPr/>
        </p:nvSpPr>
        <p:spPr>
          <a:xfrm>
            <a:off x="2739580" y="3676589"/>
            <a:ext cx="36227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opcode                func3                func7</a:t>
            </a:r>
            <a:endParaRPr lang="zh-CN" altLang="en-US" sz="800" dirty="0"/>
          </a:p>
        </p:txBody>
      </p: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E78ADA50-B7A0-8C82-7B6F-801A3182FF0A}"/>
              </a:ext>
            </a:extLst>
          </p:cNvPr>
          <p:cNvCxnSpPr>
            <a:cxnSpLocks/>
          </p:cNvCxnSpPr>
          <p:nvPr/>
        </p:nvCxnSpPr>
        <p:spPr>
          <a:xfrm flipV="1">
            <a:off x="393702" y="1575170"/>
            <a:ext cx="1114603" cy="37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256C883C-3B1D-F949-74B7-90155C03F33D}"/>
              </a:ext>
            </a:extLst>
          </p:cNvPr>
          <p:cNvCxnSpPr>
            <a:cxnSpLocks/>
          </p:cNvCxnSpPr>
          <p:nvPr/>
        </p:nvCxnSpPr>
        <p:spPr>
          <a:xfrm>
            <a:off x="395823" y="1578888"/>
            <a:ext cx="0" cy="178153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A6525C63-C2A8-CF8C-2CAB-61AF53F890F6}"/>
              </a:ext>
            </a:extLst>
          </p:cNvPr>
          <p:cNvCxnSpPr>
            <a:cxnSpLocks/>
          </p:cNvCxnSpPr>
          <p:nvPr/>
        </p:nvCxnSpPr>
        <p:spPr>
          <a:xfrm flipV="1">
            <a:off x="1513840" y="1508776"/>
            <a:ext cx="0" cy="707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84387DBF-A641-352F-EA8D-774EEAF9B736}"/>
              </a:ext>
            </a:extLst>
          </p:cNvPr>
          <p:cNvCxnSpPr>
            <a:cxnSpLocks/>
          </p:cNvCxnSpPr>
          <p:nvPr/>
        </p:nvCxnSpPr>
        <p:spPr>
          <a:xfrm>
            <a:off x="398781" y="3360790"/>
            <a:ext cx="171912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58C2D639-EA76-8341-8D0D-789D8A752142}"/>
              </a:ext>
            </a:extLst>
          </p:cNvPr>
          <p:cNvCxnSpPr>
            <a:cxnSpLocks/>
          </p:cNvCxnSpPr>
          <p:nvPr/>
        </p:nvCxnSpPr>
        <p:spPr>
          <a:xfrm flipV="1">
            <a:off x="736767" y="2468511"/>
            <a:ext cx="0" cy="10951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D3713E60-A2E2-5672-6921-B0FBC57DEED3}"/>
              </a:ext>
            </a:extLst>
          </p:cNvPr>
          <p:cNvCxnSpPr>
            <a:cxnSpLocks/>
          </p:cNvCxnSpPr>
          <p:nvPr/>
        </p:nvCxnSpPr>
        <p:spPr>
          <a:xfrm>
            <a:off x="739140" y="3561450"/>
            <a:ext cx="13730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63447049-F8D5-016E-F958-27A8ADFD0B0F}"/>
              </a:ext>
            </a:extLst>
          </p:cNvPr>
          <p:cNvCxnSpPr/>
          <p:nvPr/>
        </p:nvCxnSpPr>
        <p:spPr>
          <a:xfrm flipH="1" flipV="1">
            <a:off x="3683330" y="2437664"/>
            <a:ext cx="1745" cy="3015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5DD1D37D-DEFF-35B2-10AC-4C47CA754A9A}"/>
              </a:ext>
            </a:extLst>
          </p:cNvPr>
          <p:cNvCxnSpPr>
            <a:cxnSpLocks/>
          </p:cNvCxnSpPr>
          <p:nvPr/>
        </p:nvCxnSpPr>
        <p:spPr>
          <a:xfrm flipH="1">
            <a:off x="3017178" y="2736902"/>
            <a:ext cx="66615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0" name="直接连接符 179">
            <a:extLst>
              <a:ext uri="{FF2B5EF4-FFF2-40B4-BE49-F238E27FC236}">
                <a16:creationId xmlns:a16="http://schemas.microsoft.com/office/drawing/2014/main" id="{A248A7AA-4134-15BD-7A72-C4504145F343}"/>
              </a:ext>
            </a:extLst>
          </p:cNvPr>
          <p:cNvCxnSpPr>
            <a:cxnSpLocks/>
          </p:cNvCxnSpPr>
          <p:nvPr/>
        </p:nvCxnSpPr>
        <p:spPr>
          <a:xfrm>
            <a:off x="3017177" y="2738799"/>
            <a:ext cx="0" cy="4937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5B1E2CF0-B3BF-1DAA-0F33-CCDCC1DAA69A}"/>
              </a:ext>
            </a:extLst>
          </p:cNvPr>
          <p:cNvSpPr txBox="1"/>
          <p:nvPr/>
        </p:nvSpPr>
        <p:spPr>
          <a:xfrm>
            <a:off x="3541246" y="1772001"/>
            <a:ext cx="3533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 err="1"/>
              <a:t>sel</a:t>
            </a:r>
            <a:endParaRPr lang="en-US" altLang="zh-CN" sz="700" dirty="0"/>
          </a:p>
        </p:txBody>
      </p:sp>
      <p:cxnSp>
        <p:nvCxnSpPr>
          <p:cNvPr id="188" name="直接箭头连接符 187">
            <a:extLst>
              <a:ext uri="{FF2B5EF4-FFF2-40B4-BE49-F238E27FC236}">
                <a16:creationId xmlns:a16="http://schemas.microsoft.com/office/drawing/2014/main" id="{8BB08869-31C7-742C-2415-39BA9FE2F4BC}"/>
              </a:ext>
            </a:extLst>
          </p:cNvPr>
          <p:cNvCxnSpPr>
            <a:cxnSpLocks/>
          </p:cNvCxnSpPr>
          <p:nvPr/>
        </p:nvCxnSpPr>
        <p:spPr>
          <a:xfrm flipV="1">
            <a:off x="3683329" y="1931983"/>
            <a:ext cx="0" cy="707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594641CB-92AD-3979-2F1C-0AD91C5BE70A}"/>
              </a:ext>
            </a:extLst>
          </p:cNvPr>
          <p:cNvCxnSpPr>
            <a:cxnSpLocks/>
          </p:cNvCxnSpPr>
          <p:nvPr/>
        </p:nvCxnSpPr>
        <p:spPr>
          <a:xfrm>
            <a:off x="3704396" y="2002602"/>
            <a:ext cx="6822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206C9B4F-0FA8-D767-69DD-E00FA5FCE95E}"/>
              </a:ext>
            </a:extLst>
          </p:cNvPr>
          <p:cNvCxnSpPr>
            <a:cxnSpLocks/>
          </p:cNvCxnSpPr>
          <p:nvPr/>
        </p:nvCxnSpPr>
        <p:spPr>
          <a:xfrm flipV="1">
            <a:off x="4680942" y="2027505"/>
            <a:ext cx="0" cy="9061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562A86A7-2B8A-D8FE-2935-6670D5284F5E}"/>
              </a:ext>
            </a:extLst>
          </p:cNvPr>
          <p:cNvCxnSpPr>
            <a:cxnSpLocks/>
          </p:cNvCxnSpPr>
          <p:nvPr/>
        </p:nvCxnSpPr>
        <p:spPr>
          <a:xfrm>
            <a:off x="4382473" y="2002499"/>
            <a:ext cx="2252" cy="8372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00F19FA5-EF23-D2EE-FD36-42211DC092D6}"/>
              </a:ext>
            </a:extLst>
          </p:cNvPr>
          <p:cNvCxnSpPr>
            <a:cxnSpLocks/>
          </p:cNvCxnSpPr>
          <p:nvPr/>
        </p:nvCxnSpPr>
        <p:spPr>
          <a:xfrm>
            <a:off x="3606965" y="2836997"/>
            <a:ext cx="7779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4" name="直接连接符 203">
            <a:extLst>
              <a:ext uri="{FF2B5EF4-FFF2-40B4-BE49-F238E27FC236}">
                <a16:creationId xmlns:a16="http://schemas.microsoft.com/office/drawing/2014/main" id="{8D55CFD1-7F36-90EC-03F6-F52DB25FFF9C}"/>
              </a:ext>
            </a:extLst>
          </p:cNvPr>
          <p:cNvCxnSpPr>
            <a:cxnSpLocks/>
          </p:cNvCxnSpPr>
          <p:nvPr/>
        </p:nvCxnSpPr>
        <p:spPr>
          <a:xfrm>
            <a:off x="4197671" y="2933517"/>
            <a:ext cx="4829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FCF22849-B673-FF3E-245D-F8F368A9A9CF}"/>
              </a:ext>
            </a:extLst>
          </p:cNvPr>
          <p:cNvCxnSpPr>
            <a:cxnSpLocks/>
          </p:cNvCxnSpPr>
          <p:nvPr/>
        </p:nvCxnSpPr>
        <p:spPr>
          <a:xfrm>
            <a:off x="3606964" y="2834641"/>
            <a:ext cx="0" cy="40385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AD9C4A62-AF90-E792-AD68-D021B6329C2B}"/>
              </a:ext>
            </a:extLst>
          </p:cNvPr>
          <p:cNvCxnSpPr>
            <a:cxnSpLocks/>
          </p:cNvCxnSpPr>
          <p:nvPr/>
        </p:nvCxnSpPr>
        <p:spPr>
          <a:xfrm>
            <a:off x="4199386" y="2931161"/>
            <a:ext cx="0" cy="30479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845FD038-D0D4-728A-7AE8-C101BBE87337}"/>
              </a:ext>
            </a:extLst>
          </p:cNvPr>
          <p:cNvCxnSpPr>
            <a:cxnSpLocks/>
          </p:cNvCxnSpPr>
          <p:nvPr/>
        </p:nvCxnSpPr>
        <p:spPr>
          <a:xfrm>
            <a:off x="4862022" y="2429180"/>
            <a:ext cx="11720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0908A20B-03C8-58F6-2B89-EA172F8E42C9}"/>
              </a:ext>
            </a:extLst>
          </p:cNvPr>
          <p:cNvCxnSpPr>
            <a:cxnSpLocks/>
          </p:cNvCxnSpPr>
          <p:nvPr/>
        </p:nvCxnSpPr>
        <p:spPr>
          <a:xfrm>
            <a:off x="4862021" y="2425132"/>
            <a:ext cx="0" cy="8082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9" name="文本框 218">
            <a:extLst>
              <a:ext uri="{FF2B5EF4-FFF2-40B4-BE49-F238E27FC236}">
                <a16:creationId xmlns:a16="http://schemas.microsoft.com/office/drawing/2014/main" id="{F60041BC-6470-5DF2-5EF2-2CA4C62F0064}"/>
              </a:ext>
            </a:extLst>
          </p:cNvPr>
          <p:cNvSpPr txBox="1"/>
          <p:nvPr/>
        </p:nvSpPr>
        <p:spPr>
          <a:xfrm>
            <a:off x="6535926" y="1655412"/>
            <a:ext cx="35338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op</a:t>
            </a:r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2A04893A-5C37-01C3-5F28-E1A1AD206E70}"/>
              </a:ext>
            </a:extLst>
          </p:cNvPr>
          <p:cNvSpPr txBox="1"/>
          <p:nvPr/>
        </p:nvSpPr>
        <p:spPr>
          <a:xfrm>
            <a:off x="6563218" y="2994216"/>
            <a:ext cx="35338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" dirty="0"/>
              <a:t>we</a:t>
            </a:r>
          </a:p>
        </p:txBody>
      </p: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3A27FCA6-901D-8E23-B8E8-FBE4C1182DCB}"/>
              </a:ext>
            </a:extLst>
          </p:cNvPr>
          <p:cNvCxnSpPr/>
          <p:nvPr/>
        </p:nvCxnSpPr>
        <p:spPr>
          <a:xfrm flipH="1" flipV="1">
            <a:off x="6679166" y="1820464"/>
            <a:ext cx="1745" cy="3015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E9ACAEFE-D57F-1105-6936-6CC594A335EB}"/>
              </a:ext>
            </a:extLst>
          </p:cNvPr>
          <p:cNvCxnSpPr>
            <a:cxnSpLocks/>
          </p:cNvCxnSpPr>
          <p:nvPr/>
        </p:nvCxnSpPr>
        <p:spPr>
          <a:xfrm>
            <a:off x="6195492" y="2121749"/>
            <a:ext cx="485997" cy="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5AFABFBF-9EA9-556A-BED3-8DA980337CFF}"/>
              </a:ext>
            </a:extLst>
          </p:cNvPr>
          <p:cNvCxnSpPr>
            <a:cxnSpLocks/>
          </p:cNvCxnSpPr>
          <p:nvPr/>
        </p:nvCxnSpPr>
        <p:spPr>
          <a:xfrm flipV="1">
            <a:off x="6683988" y="3115863"/>
            <a:ext cx="0" cy="5735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1D5C6CC0-8132-43F9-851B-7254D8E0DCF0}"/>
              </a:ext>
            </a:extLst>
          </p:cNvPr>
          <p:cNvCxnSpPr>
            <a:cxnSpLocks/>
          </p:cNvCxnSpPr>
          <p:nvPr/>
        </p:nvCxnSpPr>
        <p:spPr>
          <a:xfrm>
            <a:off x="6198711" y="2118930"/>
            <a:ext cx="0" cy="14460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2" name="直接连接符 241">
            <a:extLst>
              <a:ext uri="{FF2B5EF4-FFF2-40B4-BE49-F238E27FC236}">
                <a16:creationId xmlns:a16="http://schemas.microsoft.com/office/drawing/2014/main" id="{3AFD78A2-0488-1C9D-B981-245E0DE1330F}"/>
              </a:ext>
            </a:extLst>
          </p:cNvPr>
          <p:cNvCxnSpPr>
            <a:cxnSpLocks/>
          </p:cNvCxnSpPr>
          <p:nvPr/>
        </p:nvCxnSpPr>
        <p:spPr>
          <a:xfrm>
            <a:off x="5116011" y="3565333"/>
            <a:ext cx="108043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7" name="直接连接符 266">
            <a:extLst>
              <a:ext uri="{FF2B5EF4-FFF2-40B4-BE49-F238E27FC236}">
                <a16:creationId xmlns:a16="http://schemas.microsoft.com/office/drawing/2014/main" id="{71F132B5-7E90-5081-05E3-528E43FFA2CB}"/>
              </a:ext>
            </a:extLst>
          </p:cNvPr>
          <p:cNvCxnSpPr>
            <a:cxnSpLocks/>
          </p:cNvCxnSpPr>
          <p:nvPr/>
        </p:nvCxnSpPr>
        <p:spPr>
          <a:xfrm>
            <a:off x="5103213" y="3691690"/>
            <a:ext cx="15806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77307B94-D4E2-3403-9E8C-7C9A0DB82A78}"/>
              </a:ext>
            </a:extLst>
          </p:cNvPr>
          <p:cNvCxnSpPr>
            <a:cxnSpLocks/>
          </p:cNvCxnSpPr>
          <p:nvPr/>
        </p:nvCxnSpPr>
        <p:spPr>
          <a:xfrm flipH="1">
            <a:off x="1849968" y="2944336"/>
            <a:ext cx="91612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6" name="直接连接符 275">
            <a:extLst>
              <a:ext uri="{FF2B5EF4-FFF2-40B4-BE49-F238E27FC236}">
                <a16:creationId xmlns:a16="http://schemas.microsoft.com/office/drawing/2014/main" id="{0ED0DF4F-B412-03A0-C104-848B91CA1F57}"/>
              </a:ext>
            </a:extLst>
          </p:cNvPr>
          <p:cNvCxnSpPr>
            <a:cxnSpLocks/>
          </p:cNvCxnSpPr>
          <p:nvPr/>
        </p:nvCxnSpPr>
        <p:spPr>
          <a:xfrm>
            <a:off x="1855928" y="2945167"/>
            <a:ext cx="0" cy="10595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1" name="直接连接符 280">
            <a:extLst>
              <a:ext uri="{FF2B5EF4-FFF2-40B4-BE49-F238E27FC236}">
                <a16:creationId xmlns:a16="http://schemas.microsoft.com/office/drawing/2014/main" id="{26FC52CD-98EB-2D3E-89FF-2229501303A6}"/>
              </a:ext>
            </a:extLst>
          </p:cNvPr>
          <p:cNvCxnSpPr>
            <a:cxnSpLocks/>
          </p:cNvCxnSpPr>
          <p:nvPr/>
        </p:nvCxnSpPr>
        <p:spPr>
          <a:xfrm flipH="1">
            <a:off x="1849968" y="4002668"/>
            <a:ext cx="235278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3" name="直接箭头连接符 282">
            <a:extLst>
              <a:ext uri="{FF2B5EF4-FFF2-40B4-BE49-F238E27FC236}">
                <a16:creationId xmlns:a16="http://schemas.microsoft.com/office/drawing/2014/main" id="{69D1FB01-99D9-863E-63FD-C9AC5FD7CFD2}"/>
              </a:ext>
            </a:extLst>
          </p:cNvPr>
          <p:cNvCxnSpPr>
            <a:cxnSpLocks/>
          </p:cNvCxnSpPr>
          <p:nvPr/>
        </p:nvCxnSpPr>
        <p:spPr>
          <a:xfrm flipV="1">
            <a:off x="2966452" y="3847362"/>
            <a:ext cx="0" cy="157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7" name="直接箭头连接符 286">
            <a:extLst>
              <a:ext uri="{FF2B5EF4-FFF2-40B4-BE49-F238E27FC236}">
                <a16:creationId xmlns:a16="http://schemas.microsoft.com/office/drawing/2014/main" id="{2572F749-6F62-1775-21B1-7313668CDF6C}"/>
              </a:ext>
            </a:extLst>
          </p:cNvPr>
          <p:cNvCxnSpPr>
            <a:cxnSpLocks/>
          </p:cNvCxnSpPr>
          <p:nvPr/>
        </p:nvCxnSpPr>
        <p:spPr>
          <a:xfrm flipV="1">
            <a:off x="3606964" y="3847362"/>
            <a:ext cx="0" cy="157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1AC4645E-E9A0-7E4A-B107-BA5285B22D0B}"/>
              </a:ext>
            </a:extLst>
          </p:cNvPr>
          <p:cNvCxnSpPr>
            <a:cxnSpLocks/>
          </p:cNvCxnSpPr>
          <p:nvPr/>
        </p:nvCxnSpPr>
        <p:spPr>
          <a:xfrm flipV="1">
            <a:off x="4201637" y="3847360"/>
            <a:ext cx="0" cy="1573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1" name="文本框 290">
            <a:extLst>
              <a:ext uri="{FF2B5EF4-FFF2-40B4-BE49-F238E27FC236}">
                <a16:creationId xmlns:a16="http://schemas.microsoft.com/office/drawing/2014/main" id="{7F90723B-6EEE-7C69-58C2-49F8270D16FD}"/>
              </a:ext>
            </a:extLst>
          </p:cNvPr>
          <p:cNvSpPr txBox="1"/>
          <p:nvPr/>
        </p:nvSpPr>
        <p:spPr>
          <a:xfrm>
            <a:off x="2604424" y="3873500"/>
            <a:ext cx="115180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 err="1">
                <a:solidFill>
                  <a:srgbClr val="FF0000"/>
                </a:solidFill>
              </a:rPr>
              <a:t>inst</a:t>
            </a:r>
            <a:r>
              <a:rPr lang="en-US" altLang="zh-CN" sz="500" dirty="0">
                <a:solidFill>
                  <a:srgbClr val="FF0000"/>
                </a:solidFill>
              </a:rPr>
              <a:t>[6:0]</a:t>
            </a:r>
            <a:endParaRPr lang="zh-CN" altLang="en-US" sz="500" dirty="0">
              <a:solidFill>
                <a:srgbClr val="FF0000"/>
              </a:solidFill>
            </a:endParaRPr>
          </a:p>
        </p:txBody>
      </p:sp>
      <p:sp>
        <p:nvSpPr>
          <p:cNvPr id="292" name="文本框 291">
            <a:extLst>
              <a:ext uri="{FF2B5EF4-FFF2-40B4-BE49-F238E27FC236}">
                <a16:creationId xmlns:a16="http://schemas.microsoft.com/office/drawing/2014/main" id="{D3631756-8E07-3015-C0D2-91351D087F1E}"/>
              </a:ext>
            </a:extLst>
          </p:cNvPr>
          <p:cNvSpPr txBox="1"/>
          <p:nvPr/>
        </p:nvSpPr>
        <p:spPr>
          <a:xfrm>
            <a:off x="3194384" y="3872968"/>
            <a:ext cx="115180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>
                <a:solidFill>
                  <a:srgbClr val="FF0000"/>
                </a:solidFill>
              </a:rPr>
              <a:t>inst</a:t>
            </a:r>
            <a:r>
              <a:rPr lang="en-US" altLang="zh-CN" sz="500" dirty="0">
                <a:solidFill>
                  <a:srgbClr val="FF0000"/>
                </a:solidFill>
              </a:rPr>
              <a:t>[14:12]</a:t>
            </a:r>
            <a:endParaRPr lang="zh-CN" altLang="en-US" sz="500" dirty="0">
              <a:solidFill>
                <a:srgbClr val="FF0000"/>
              </a:solidFill>
            </a:endParaRPr>
          </a:p>
        </p:txBody>
      </p:sp>
      <p:sp>
        <p:nvSpPr>
          <p:cNvPr id="293" name="文本框 292">
            <a:extLst>
              <a:ext uri="{FF2B5EF4-FFF2-40B4-BE49-F238E27FC236}">
                <a16:creationId xmlns:a16="http://schemas.microsoft.com/office/drawing/2014/main" id="{0446DA78-571A-C0A5-D371-A989806D0AA4}"/>
              </a:ext>
            </a:extLst>
          </p:cNvPr>
          <p:cNvSpPr txBox="1"/>
          <p:nvPr/>
        </p:nvSpPr>
        <p:spPr>
          <a:xfrm>
            <a:off x="3780641" y="3873500"/>
            <a:ext cx="115180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 err="1">
                <a:solidFill>
                  <a:srgbClr val="FF0000"/>
                </a:solidFill>
              </a:rPr>
              <a:t>inst</a:t>
            </a:r>
            <a:r>
              <a:rPr lang="en-US" altLang="zh-CN" sz="500" dirty="0">
                <a:solidFill>
                  <a:srgbClr val="FF0000"/>
                </a:solidFill>
              </a:rPr>
              <a:t>[31:25]</a:t>
            </a:r>
            <a:endParaRPr lang="zh-CN" altLang="en-US" sz="500" dirty="0">
              <a:solidFill>
                <a:srgbClr val="FF0000"/>
              </a:solidFill>
            </a:endParaRPr>
          </a:p>
        </p:txBody>
      </p: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8B2D2F79-291C-939C-7D4B-1E6870386B11}"/>
              </a:ext>
            </a:extLst>
          </p:cNvPr>
          <p:cNvCxnSpPr/>
          <p:nvPr/>
        </p:nvCxnSpPr>
        <p:spPr>
          <a:xfrm flipH="1">
            <a:off x="1468966" y="3302001"/>
            <a:ext cx="177799" cy="1185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7" name="直接连接符 296">
            <a:extLst>
              <a:ext uri="{FF2B5EF4-FFF2-40B4-BE49-F238E27FC236}">
                <a16:creationId xmlns:a16="http://schemas.microsoft.com/office/drawing/2014/main" id="{7732F161-53D3-AD6F-42E5-7AF0CF8475CE}"/>
              </a:ext>
            </a:extLst>
          </p:cNvPr>
          <p:cNvCxnSpPr/>
          <p:nvPr/>
        </p:nvCxnSpPr>
        <p:spPr>
          <a:xfrm flipH="1">
            <a:off x="1473200" y="3502289"/>
            <a:ext cx="177799" cy="1185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F1A07610-4C68-F602-073F-C52562654ED1}"/>
              </a:ext>
            </a:extLst>
          </p:cNvPr>
          <p:cNvCxnSpPr/>
          <p:nvPr/>
        </p:nvCxnSpPr>
        <p:spPr>
          <a:xfrm flipH="1">
            <a:off x="2925561" y="2985509"/>
            <a:ext cx="177799" cy="1185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9" name="直接连接符 298">
            <a:extLst>
              <a:ext uri="{FF2B5EF4-FFF2-40B4-BE49-F238E27FC236}">
                <a16:creationId xmlns:a16="http://schemas.microsoft.com/office/drawing/2014/main" id="{20F37BED-756E-6CC5-11EE-59824B036108}"/>
              </a:ext>
            </a:extLst>
          </p:cNvPr>
          <p:cNvCxnSpPr/>
          <p:nvPr/>
        </p:nvCxnSpPr>
        <p:spPr>
          <a:xfrm flipH="1">
            <a:off x="3510757" y="2978308"/>
            <a:ext cx="177799" cy="1185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0" name="直接连接符 299">
            <a:extLst>
              <a:ext uri="{FF2B5EF4-FFF2-40B4-BE49-F238E27FC236}">
                <a16:creationId xmlns:a16="http://schemas.microsoft.com/office/drawing/2014/main" id="{0E48941B-CCA5-9CB8-3780-C258A458EBEE}"/>
              </a:ext>
            </a:extLst>
          </p:cNvPr>
          <p:cNvCxnSpPr/>
          <p:nvPr/>
        </p:nvCxnSpPr>
        <p:spPr>
          <a:xfrm flipH="1">
            <a:off x="4113850" y="2984346"/>
            <a:ext cx="177799" cy="1185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1" name="直接连接符 300">
            <a:extLst>
              <a:ext uri="{FF2B5EF4-FFF2-40B4-BE49-F238E27FC236}">
                <a16:creationId xmlns:a16="http://schemas.microsoft.com/office/drawing/2014/main" id="{B9D08657-4162-7D3C-01A5-6D25D094EC51}"/>
              </a:ext>
            </a:extLst>
          </p:cNvPr>
          <p:cNvCxnSpPr/>
          <p:nvPr/>
        </p:nvCxnSpPr>
        <p:spPr>
          <a:xfrm flipH="1">
            <a:off x="4772052" y="2976032"/>
            <a:ext cx="177799" cy="1185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2" name="直接连接符 301">
            <a:extLst>
              <a:ext uri="{FF2B5EF4-FFF2-40B4-BE49-F238E27FC236}">
                <a16:creationId xmlns:a16="http://schemas.microsoft.com/office/drawing/2014/main" id="{4EA00862-9C42-2655-5C2A-B58C8AF44D33}"/>
              </a:ext>
            </a:extLst>
          </p:cNvPr>
          <p:cNvCxnSpPr/>
          <p:nvPr/>
        </p:nvCxnSpPr>
        <p:spPr>
          <a:xfrm flipH="1">
            <a:off x="5541448" y="3506524"/>
            <a:ext cx="177799" cy="1185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3" name="直接连接符 302">
            <a:extLst>
              <a:ext uri="{FF2B5EF4-FFF2-40B4-BE49-F238E27FC236}">
                <a16:creationId xmlns:a16="http://schemas.microsoft.com/office/drawing/2014/main" id="{D69F6572-FC7A-17D0-E311-FC3D74473247}"/>
              </a:ext>
            </a:extLst>
          </p:cNvPr>
          <p:cNvCxnSpPr/>
          <p:nvPr/>
        </p:nvCxnSpPr>
        <p:spPr>
          <a:xfrm flipH="1">
            <a:off x="5873153" y="3636433"/>
            <a:ext cx="177799" cy="11853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4" name="文本框 303">
            <a:extLst>
              <a:ext uri="{FF2B5EF4-FFF2-40B4-BE49-F238E27FC236}">
                <a16:creationId xmlns:a16="http://schemas.microsoft.com/office/drawing/2014/main" id="{15C8EAED-E96C-2612-B59B-67D80B5CB2CF}"/>
              </a:ext>
            </a:extLst>
          </p:cNvPr>
          <p:cNvSpPr txBox="1"/>
          <p:nvPr/>
        </p:nvSpPr>
        <p:spPr>
          <a:xfrm>
            <a:off x="1367367" y="3208867"/>
            <a:ext cx="4233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>
                <a:solidFill>
                  <a:srgbClr val="FF0000"/>
                </a:solidFill>
              </a:rPr>
              <a:t>1bit</a:t>
            </a:r>
            <a:endParaRPr lang="zh-CN" altLang="en-US" sz="500" dirty="0">
              <a:solidFill>
                <a:srgbClr val="FF0000"/>
              </a:solidFill>
            </a:endParaRPr>
          </a:p>
        </p:txBody>
      </p:sp>
      <p:sp>
        <p:nvSpPr>
          <p:cNvPr id="305" name="文本框 304">
            <a:extLst>
              <a:ext uri="{FF2B5EF4-FFF2-40B4-BE49-F238E27FC236}">
                <a16:creationId xmlns:a16="http://schemas.microsoft.com/office/drawing/2014/main" id="{4EED66E4-4C0A-40DA-E6F3-974C8CA6A912}"/>
              </a:ext>
            </a:extLst>
          </p:cNvPr>
          <p:cNvSpPr txBox="1"/>
          <p:nvPr/>
        </p:nvSpPr>
        <p:spPr>
          <a:xfrm>
            <a:off x="3977737" y="2918832"/>
            <a:ext cx="4233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>
                <a:solidFill>
                  <a:srgbClr val="FF0000"/>
                </a:solidFill>
              </a:rPr>
              <a:t>1bit</a:t>
            </a:r>
            <a:endParaRPr lang="zh-CN" altLang="en-US" sz="500" dirty="0">
              <a:solidFill>
                <a:srgbClr val="FF0000"/>
              </a:solidFill>
            </a:endParaRPr>
          </a:p>
        </p:txBody>
      </p:sp>
      <p:sp>
        <p:nvSpPr>
          <p:cNvPr id="306" name="文本框 305">
            <a:extLst>
              <a:ext uri="{FF2B5EF4-FFF2-40B4-BE49-F238E27FC236}">
                <a16:creationId xmlns:a16="http://schemas.microsoft.com/office/drawing/2014/main" id="{7C0CAEE7-19D9-73CD-6622-57E381B73A8E}"/>
              </a:ext>
            </a:extLst>
          </p:cNvPr>
          <p:cNvSpPr txBox="1"/>
          <p:nvPr/>
        </p:nvSpPr>
        <p:spPr>
          <a:xfrm>
            <a:off x="4658136" y="2906324"/>
            <a:ext cx="4233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>
                <a:solidFill>
                  <a:srgbClr val="FF0000"/>
                </a:solidFill>
              </a:rPr>
              <a:t>1bit</a:t>
            </a:r>
            <a:endParaRPr lang="zh-CN" altLang="en-US" sz="500" dirty="0">
              <a:solidFill>
                <a:srgbClr val="FF0000"/>
              </a:solidFill>
            </a:endParaRPr>
          </a:p>
        </p:txBody>
      </p:sp>
      <p:sp>
        <p:nvSpPr>
          <p:cNvPr id="307" name="文本框 306">
            <a:extLst>
              <a:ext uri="{FF2B5EF4-FFF2-40B4-BE49-F238E27FC236}">
                <a16:creationId xmlns:a16="http://schemas.microsoft.com/office/drawing/2014/main" id="{C2E34D0E-6F34-1B26-6925-B8A5BF985A51}"/>
              </a:ext>
            </a:extLst>
          </p:cNvPr>
          <p:cNvSpPr txBox="1"/>
          <p:nvPr/>
        </p:nvSpPr>
        <p:spPr>
          <a:xfrm>
            <a:off x="5781612" y="3559176"/>
            <a:ext cx="42333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>
                <a:solidFill>
                  <a:srgbClr val="FF0000"/>
                </a:solidFill>
              </a:rPr>
              <a:t>1bit</a:t>
            </a:r>
            <a:endParaRPr lang="zh-CN" altLang="en-US" sz="500" dirty="0">
              <a:solidFill>
                <a:srgbClr val="FF0000"/>
              </a:solidFill>
            </a:endParaRPr>
          </a:p>
        </p:txBody>
      </p:sp>
      <p:sp>
        <p:nvSpPr>
          <p:cNvPr id="309" name="文本框 308">
            <a:extLst>
              <a:ext uri="{FF2B5EF4-FFF2-40B4-BE49-F238E27FC236}">
                <a16:creationId xmlns:a16="http://schemas.microsoft.com/office/drawing/2014/main" id="{E0D92DC8-AEE3-426D-AF33-5FA710F6731D}"/>
              </a:ext>
            </a:extLst>
          </p:cNvPr>
          <p:cNvSpPr txBox="1"/>
          <p:nvPr/>
        </p:nvSpPr>
        <p:spPr>
          <a:xfrm>
            <a:off x="1353633" y="3430380"/>
            <a:ext cx="6318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>
                <a:solidFill>
                  <a:srgbClr val="FF0000"/>
                </a:solidFill>
              </a:rPr>
              <a:t>2bits</a:t>
            </a:r>
            <a:endParaRPr lang="zh-CN" altLang="en-US" sz="500" dirty="0">
              <a:solidFill>
                <a:srgbClr val="FF0000"/>
              </a:solidFill>
            </a:endParaRPr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7255960A-35E3-648A-2694-84F6250F47A9}"/>
              </a:ext>
            </a:extLst>
          </p:cNvPr>
          <p:cNvSpPr txBox="1"/>
          <p:nvPr/>
        </p:nvSpPr>
        <p:spPr>
          <a:xfrm>
            <a:off x="3355509" y="2923067"/>
            <a:ext cx="6318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>
                <a:solidFill>
                  <a:srgbClr val="FF0000"/>
                </a:solidFill>
              </a:rPr>
              <a:t>2bits</a:t>
            </a:r>
            <a:endParaRPr lang="zh-CN" altLang="en-US" sz="500" dirty="0">
              <a:solidFill>
                <a:srgbClr val="FF0000"/>
              </a:solidFill>
            </a:endParaRP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5C854DD9-C2DA-EC91-E96F-22A72F036877}"/>
              </a:ext>
            </a:extLst>
          </p:cNvPr>
          <p:cNvSpPr txBox="1"/>
          <p:nvPr/>
        </p:nvSpPr>
        <p:spPr>
          <a:xfrm>
            <a:off x="2785700" y="2923465"/>
            <a:ext cx="6318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>
                <a:solidFill>
                  <a:srgbClr val="FF0000"/>
                </a:solidFill>
              </a:rPr>
              <a:t>3bits</a:t>
            </a:r>
            <a:endParaRPr lang="zh-CN" altLang="en-US" sz="500" dirty="0">
              <a:solidFill>
                <a:srgbClr val="FF0000"/>
              </a:solidFill>
            </a:endParaRPr>
          </a:p>
        </p:txBody>
      </p:sp>
      <p:sp>
        <p:nvSpPr>
          <p:cNvPr id="312" name="文本框 311">
            <a:extLst>
              <a:ext uri="{FF2B5EF4-FFF2-40B4-BE49-F238E27FC236}">
                <a16:creationId xmlns:a16="http://schemas.microsoft.com/office/drawing/2014/main" id="{DEAA66C7-521F-1514-8857-D82E0DA4B578}"/>
              </a:ext>
            </a:extLst>
          </p:cNvPr>
          <p:cNvSpPr txBox="1"/>
          <p:nvPr/>
        </p:nvSpPr>
        <p:spPr>
          <a:xfrm>
            <a:off x="5411554" y="3430379"/>
            <a:ext cx="63180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 dirty="0">
                <a:solidFill>
                  <a:srgbClr val="FF0000"/>
                </a:solidFill>
              </a:rPr>
              <a:t>4bits</a:t>
            </a:r>
            <a:endParaRPr lang="zh-CN" altLang="en-US" sz="500" dirty="0">
              <a:solidFill>
                <a:srgbClr val="FF0000"/>
              </a:solidFill>
            </a:endParaRPr>
          </a:p>
        </p:txBody>
      </p:sp>
      <p:sp>
        <p:nvSpPr>
          <p:cNvPr id="315" name="椭圆 314">
            <a:extLst>
              <a:ext uri="{FF2B5EF4-FFF2-40B4-BE49-F238E27FC236}">
                <a16:creationId xmlns:a16="http://schemas.microsoft.com/office/drawing/2014/main" id="{9018BD5A-410F-C588-1DEC-B8771F376086}"/>
              </a:ext>
            </a:extLst>
          </p:cNvPr>
          <p:cNvSpPr/>
          <p:nvPr/>
        </p:nvSpPr>
        <p:spPr>
          <a:xfrm flipH="1" flipV="1">
            <a:off x="3262804" y="700191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6" name="椭圆 315">
            <a:extLst>
              <a:ext uri="{FF2B5EF4-FFF2-40B4-BE49-F238E27FC236}">
                <a16:creationId xmlns:a16="http://schemas.microsoft.com/office/drawing/2014/main" id="{C6532C3E-674C-80D7-A01E-A4ED40583DD9}"/>
              </a:ext>
            </a:extLst>
          </p:cNvPr>
          <p:cNvSpPr/>
          <p:nvPr/>
        </p:nvSpPr>
        <p:spPr>
          <a:xfrm flipH="1" flipV="1">
            <a:off x="1859417" y="2127757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椭圆 316">
            <a:extLst>
              <a:ext uri="{FF2B5EF4-FFF2-40B4-BE49-F238E27FC236}">
                <a16:creationId xmlns:a16="http://schemas.microsoft.com/office/drawing/2014/main" id="{16B4705F-26FC-9842-D0F7-D30681AC5277}"/>
              </a:ext>
            </a:extLst>
          </p:cNvPr>
          <p:cNvSpPr/>
          <p:nvPr/>
        </p:nvSpPr>
        <p:spPr>
          <a:xfrm flipH="1" flipV="1">
            <a:off x="2742401" y="2503773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FCBA468D-0E4D-EECA-0205-6411BC558F92}"/>
              </a:ext>
            </a:extLst>
          </p:cNvPr>
          <p:cNvSpPr/>
          <p:nvPr/>
        </p:nvSpPr>
        <p:spPr>
          <a:xfrm flipH="1" flipV="1">
            <a:off x="2998400" y="2507700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椭圆 318">
            <a:extLst>
              <a:ext uri="{FF2B5EF4-FFF2-40B4-BE49-F238E27FC236}">
                <a16:creationId xmlns:a16="http://schemas.microsoft.com/office/drawing/2014/main" id="{811921FC-F674-5091-7AE8-2A3E2A3D7A85}"/>
              </a:ext>
            </a:extLst>
          </p:cNvPr>
          <p:cNvSpPr/>
          <p:nvPr/>
        </p:nvSpPr>
        <p:spPr>
          <a:xfrm flipH="1" flipV="1">
            <a:off x="7135858" y="1655610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BCFCB787-85F1-FBE6-EAE9-499D54D15046}"/>
              </a:ext>
            </a:extLst>
          </p:cNvPr>
          <p:cNvSpPr/>
          <p:nvPr/>
        </p:nvSpPr>
        <p:spPr>
          <a:xfrm flipH="1" flipV="1">
            <a:off x="5281975" y="1701007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椭圆 320">
            <a:extLst>
              <a:ext uri="{FF2B5EF4-FFF2-40B4-BE49-F238E27FC236}">
                <a16:creationId xmlns:a16="http://schemas.microsoft.com/office/drawing/2014/main" id="{FE2B82E0-9C0E-96DF-EAEB-8A9E6E7E50FF}"/>
              </a:ext>
            </a:extLst>
          </p:cNvPr>
          <p:cNvSpPr/>
          <p:nvPr/>
        </p:nvSpPr>
        <p:spPr>
          <a:xfrm flipH="1" flipV="1">
            <a:off x="4118280" y="2259618"/>
            <a:ext cx="45719" cy="4571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BED1552-44CA-49D0-3030-58F91E88AF88}"/>
              </a:ext>
            </a:extLst>
          </p:cNvPr>
          <p:cNvCxnSpPr>
            <a:cxnSpLocks/>
          </p:cNvCxnSpPr>
          <p:nvPr/>
        </p:nvCxnSpPr>
        <p:spPr>
          <a:xfrm>
            <a:off x="1233487" y="2360772"/>
            <a:ext cx="162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EF173D9-9AF8-2653-D429-F932F7846701}"/>
              </a:ext>
            </a:extLst>
          </p:cNvPr>
          <p:cNvCxnSpPr>
            <a:cxnSpLocks/>
          </p:cNvCxnSpPr>
          <p:nvPr/>
        </p:nvCxnSpPr>
        <p:spPr>
          <a:xfrm>
            <a:off x="1231613" y="2363277"/>
            <a:ext cx="0" cy="329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5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269</TotalTime>
  <Words>301</Words>
  <Application>Microsoft Office PowerPoint</Application>
  <PresentationFormat>自定义</PresentationFormat>
  <Paragraphs>200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Wild Taro</dc:creator>
  <cp:lastModifiedBy>Wild Taro</cp:lastModifiedBy>
  <cp:revision>21</cp:revision>
  <dcterms:created xsi:type="dcterms:W3CDTF">2025-07-07T06:31:44Z</dcterms:created>
  <dcterms:modified xsi:type="dcterms:W3CDTF">2025-08-02T11:59:32Z</dcterms:modified>
</cp:coreProperties>
</file>